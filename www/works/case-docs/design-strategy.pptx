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Montserrat Medium"/>
      <p:regular r:id="rId26"/>
      <p:bold r:id="rId27"/>
      <p:italic r:id="rId28"/>
      <p:boldItalic r:id="rId29"/>
    </p:embeddedFont>
    <p:embeddedFont>
      <p:font typeface="Montserrat ExtraBold"/>
      <p:bold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6" roundtripDataSignature="AMtx7mh+T6/6SbMdk1xVTyLm2qf6X4sX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0BAD3E-05B6-45A1-A309-C2305F226E0F}">
  <a:tblStyle styleId="{E10BAD3E-05B6-45A1-A309-C2305F226E0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C49059AC-83E0-4800-A9F5-5218521E8265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5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Medium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MontserratMedium-italic.fntdata"/><Relationship Id="rId27" Type="http://schemas.openxmlformats.org/officeDocument/2006/relationships/font" Target="fonts/Montserrat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Medium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ExtraBold-boldItalic.fntdata"/><Relationship Id="rId30" Type="http://schemas.openxmlformats.org/officeDocument/2006/relationships/font" Target="fonts/MontserratExtraBold-bold.fntdata"/><Relationship Id="rId11" Type="http://schemas.openxmlformats.org/officeDocument/2006/relationships/slide" Target="slides/slide5.xml"/><Relationship Id="rId33" Type="http://schemas.openxmlformats.org/officeDocument/2006/relationships/font" Target="fonts/OpenSans-bold.fntdata"/><Relationship Id="rId10" Type="http://schemas.openxmlformats.org/officeDocument/2006/relationships/slide" Target="slides/slide4.xml"/><Relationship Id="rId32" Type="http://schemas.openxmlformats.org/officeDocument/2006/relationships/font" Target="fonts/OpenSans-regular.fntdata"/><Relationship Id="rId13" Type="http://schemas.openxmlformats.org/officeDocument/2006/relationships/slide" Target="slides/slide7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6.xml"/><Relationship Id="rId34" Type="http://schemas.openxmlformats.org/officeDocument/2006/relationships/font" Target="fonts/OpenSans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339711b92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1339711b92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339711b92e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1339711b92e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339711b92e_2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1339711b92e_2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339711b92e_2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g1339711b92e_2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339711b92e_2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1339711b92e_2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mui" TargetMode="External"/><Relationship Id="rId4" Type="http://schemas.openxmlformats.org/officeDocument/2006/relationships/hyperlink" Target="https://mui.com/design-kits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drive/folders/1OeErPYNn2fXB4kLDPg9MigONqxCjPeeX" TargetMode="External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figma.com/proto/hPNK7yFC7sXv5knvj4HlpO/TvEyes---LowFi?page-id=0%3A1&amp;node-id=1%3A505&amp;viewport=5629%2C504%2C0.25&amp;scaling=min-zoom&amp;starting-point-node-id=1%3A505" TargetMode="External"/><Relationship Id="rId4" Type="http://schemas.openxmlformats.org/officeDocument/2006/relationships/hyperlink" Target="http://drive.google.com/file/d/1ehkhFzvy7ZQUjGRHluMdmjUEvXM8oygQ/view" TargetMode="External"/><Relationship Id="rId5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rive.google.com/file/d/1REQ8YMlNj2qUv4mtvY9FKaHQHndHNsjU/view?usp=sharin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rive.google.com/drive/folders/1OeErPYNn2fXB4kLDPg9MigONqxCjPeeX" TargetMode="External"/><Relationship Id="rId4" Type="http://schemas.openxmlformats.org/officeDocument/2006/relationships/hyperlink" Target="https://drive.google.com/file/d/1iVEjE2rmLle2TV9TUZhkl27YA6U_gjvB/view?usp=sharing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hyperlink" Target="https://www.youtube.com/watch?v=CHw_wTGHYCg" TargetMode="External"/><Relationship Id="rId6" Type="http://schemas.openxmlformats.org/officeDocument/2006/relationships/hyperlink" Target="https://www.atlassian.com/agile/project-management/user-stories" TargetMode="External"/><Relationship Id="rId7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help.figma.com/hc/en-us/articles/360039827834-Jira-and-Figma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hyperlink" Target="https://www.atlassian.com/agile/project-managemen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mui.com/store/?utm_source=marketing&amp;utm_medium=referral&amp;utm_campaign=design-cta#design" TargetMode="External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rive.google.com/drive/folders/1OeErPYNn2fXB4kLDPg9MigONqxCjPeeX" TargetMode="External"/><Relationship Id="rId4" Type="http://schemas.openxmlformats.org/officeDocument/2006/relationships/hyperlink" Target="https://miro.com/app/board/uXjVO9OMa30=/?moveToWidget=3458764526990744779&amp;cot=14" TargetMode="External"/><Relationship Id="rId5" Type="http://schemas.openxmlformats.org/officeDocument/2006/relationships/hyperlink" Target="https://docs.google.com/presentation/d/1gULWFioPnFChlOeISl5Z4psBjpW0GsJ8/edit?rtpof=tru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4861336" y="2571757"/>
            <a:ext cx="12891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PREPARED FOR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4861336" y="2716652"/>
            <a:ext cx="197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Robert Kaufholz</a:t>
            </a:r>
            <a:endParaRPr b="1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866139" y="3090271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MAY 21, 2021 (updated)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7" name="Google Shape;57;p1"/>
          <p:cNvGrpSpPr/>
          <p:nvPr/>
        </p:nvGrpSpPr>
        <p:grpSpPr>
          <a:xfrm>
            <a:off x="0" y="-6656"/>
            <a:ext cx="4000500" cy="5150150"/>
            <a:chOff x="0" y="-6656"/>
            <a:chExt cx="4000500" cy="5150150"/>
          </a:xfrm>
        </p:grpSpPr>
        <p:sp>
          <p:nvSpPr>
            <p:cNvPr id="58" name="Google Shape;58;p1"/>
            <p:cNvSpPr/>
            <p:nvPr/>
          </p:nvSpPr>
          <p:spPr>
            <a:xfrm>
              <a:off x="35352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35352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0" y="18545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0" y="27655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0" y="9239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0" y="3227200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0" y="3686603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7" name="Google Shape;6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2450" y="770225"/>
            <a:ext cx="3972651" cy="3723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1"/>
          <p:cNvGrpSpPr/>
          <p:nvPr/>
        </p:nvGrpSpPr>
        <p:grpSpPr>
          <a:xfrm>
            <a:off x="359900" y="458083"/>
            <a:ext cx="3178800" cy="4348101"/>
            <a:chOff x="359900" y="458083"/>
            <a:chExt cx="3178800" cy="4348101"/>
          </a:xfrm>
        </p:grpSpPr>
        <p:sp>
          <p:nvSpPr>
            <p:cNvPr id="69" name="Google Shape;69;p1"/>
            <p:cNvSpPr txBox="1"/>
            <p:nvPr/>
          </p:nvSpPr>
          <p:spPr>
            <a:xfrm>
              <a:off x="359900" y="1883875"/>
              <a:ext cx="3178800" cy="111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1" i="0" lang="en" sz="34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Design </a:t>
              </a:r>
              <a:endParaRPr b="1" i="0" sz="3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3400" u="none" cap="none" strike="noStrike">
                  <a:solidFill>
                    <a:srgbClr val="EC930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Strategy</a:t>
              </a:r>
              <a:endParaRPr b="1" i="0" sz="3400" u="none" cap="none" strike="noStrike">
                <a:solidFill>
                  <a:srgbClr val="EC930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0" name="Google Shape;70;p1"/>
            <p:cNvSpPr txBox="1"/>
            <p:nvPr/>
          </p:nvSpPr>
          <p:spPr>
            <a:xfrm>
              <a:off x="402211" y="4044641"/>
              <a:ext cx="1289100" cy="22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PREPARED FOR</a:t>
              </a:r>
              <a:endParaRPr b="0" i="0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1" name="Google Shape;71;p1"/>
            <p:cNvSpPr txBox="1"/>
            <p:nvPr/>
          </p:nvSpPr>
          <p:spPr>
            <a:xfrm>
              <a:off x="395155" y="4202467"/>
              <a:ext cx="1974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lang="en" sz="1000">
                  <a:latin typeface="Montserrat"/>
                  <a:ea typeface="Montserrat"/>
                  <a:cs typeface="Montserrat"/>
                  <a:sym typeface="Montserrat"/>
                </a:rPr>
                <a:t>TvEyes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2" name="Google Shape;72;p1"/>
            <p:cNvSpPr txBox="1"/>
            <p:nvPr/>
          </p:nvSpPr>
          <p:spPr>
            <a:xfrm>
              <a:off x="399959" y="4501384"/>
              <a:ext cx="1524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n" sz="700">
                  <a:solidFill>
                    <a:srgbClr val="9E9E9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June</a:t>
              </a:r>
              <a:r>
                <a:rPr b="1" i="0" lang="en" sz="700" u="none" cap="none" strike="noStrike">
                  <a:solidFill>
                    <a:srgbClr val="9E9E9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 2022</a:t>
              </a:r>
              <a:endParaRPr b="0" i="0" sz="900" u="none" cap="none" strike="noStrike">
                <a:solidFill>
                  <a:srgbClr val="9E9E9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73" name="Google Shape;73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8975" y="458083"/>
              <a:ext cx="560118" cy="2211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4" name="Google Shape;74;p1"/>
          <p:cNvPicPr preferRelativeResize="0"/>
          <p:nvPr/>
        </p:nvPicPr>
        <p:blipFill rotWithShape="1">
          <a:blip r:embed="rId5">
            <a:alphaModFix/>
          </a:blip>
          <a:srcRect b="2945" l="0" r="0" t="2945"/>
          <a:stretch/>
        </p:blipFill>
        <p:spPr>
          <a:xfrm>
            <a:off x="1207225" y="446600"/>
            <a:ext cx="665875" cy="27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"/>
          <p:cNvSpPr txBox="1"/>
          <p:nvPr/>
        </p:nvSpPr>
        <p:spPr>
          <a:xfrm>
            <a:off x="4601939" y="963426"/>
            <a:ext cx="1985400" cy="3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C9301"/>
                </a:solidFill>
                <a:latin typeface="Arial"/>
                <a:ea typeface="Arial"/>
                <a:cs typeface="Arial"/>
                <a:sym typeface="Arial"/>
              </a:rPr>
              <a:t>Design Vision</a:t>
            </a:r>
            <a:endParaRPr b="1" i="0" sz="1000" u="none" cap="none" strike="noStrike">
              <a:solidFill>
                <a:srgbClr val="EC930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CJM Scope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LOW-FI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EC930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000" u="none" cap="none" strike="noStrike">
                <a:solidFill>
                  <a:srgbClr val="EC9301"/>
                </a:solidFill>
                <a:latin typeface="Arial"/>
                <a:ea typeface="Arial"/>
                <a:cs typeface="Arial"/>
                <a:sym typeface="Arial"/>
              </a:rPr>
              <a:t>Plan / Roadmap</a:t>
            </a:r>
            <a:endParaRPr b="1" i="0" sz="1000" u="none" cap="none" strike="noStrike">
              <a:solidFill>
                <a:srgbClr val="EC930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Ramp-up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Phase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EC930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000" u="none" cap="none" strike="noStrike">
                <a:solidFill>
                  <a:srgbClr val="EC9301"/>
                </a:solidFill>
                <a:latin typeface="Arial"/>
                <a:ea typeface="Arial"/>
                <a:cs typeface="Arial"/>
                <a:sym typeface="Arial"/>
              </a:rPr>
              <a:t>Agile &amp; Design Process</a:t>
            </a:r>
            <a:endParaRPr b="1" i="0" sz="1000" u="none" cap="none" strike="noStrike">
              <a:solidFill>
                <a:srgbClr val="EC930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Lean + Agile CJM &amp; Backlog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Story Template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Lean + Agile Ceremonies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Story Flow</a:t>
            </a:r>
            <a:endParaRPr b="1" i="0" sz="1000" u="none" cap="none" strike="noStrike">
              <a:solidFill>
                <a:srgbClr val="EC930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E10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E10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0" y="0"/>
            <a:ext cx="4000500" cy="51435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" name="Google Shape;81;p2"/>
          <p:cNvGrpSpPr/>
          <p:nvPr/>
        </p:nvGrpSpPr>
        <p:grpSpPr>
          <a:xfrm>
            <a:off x="0" y="-6656"/>
            <a:ext cx="9144000" cy="5150150"/>
            <a:chOff x="0" y="-6656"/>
            <a:chExt cx="9144000" cy="5150150"/>
          </a:xfrm>
        </p:grpSpPr>
        <p:sp>
          <p:nvSpPr>
            <p:cNvPr id="82" name="Google Shape;82;p2"/>
            <p:cNvSpPr/>
            <p:nvPr/>
          </p:nvSpPr>
          <p:spPr>
            <a:xfrm>
              <a:off x="86787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82134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5352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5352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0" y="18545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0" y="27655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0" y="9239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0" y="3227200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0" y="3686603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86787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2"/>
          <p:cNvSpPr txBox="1"/>
          <p:nvPr/>
        </p:nvSpPr>
        <p:spPr>
          <a:xfrm>
            <a:off x="439756" y="337150"/>
            <a:ext cx="2242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700" u="none" cap="none" strike="noStrike">
                <a:solidFill>
                  <a:srgbClr val="9E9E9E"/>
                </a:solidFill>
                <a:latin typeface="Montserrat"/>
                <a:ea typeface="Montserrat"/>
                <a:cs typeface="Montserrat"/>
                <a:sym typeface="Montserrat"/>
              </a:rPr>
              <a:t>DESIGN STRATEGY</a:t>
            </a:r>
            <a:r>
              <a:rPr b="1" i="0" lang="en" sz="7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INTRO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9E9E9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406475" y="2094750"/>
            <a:ext cx="3134100" cy="17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primary outcome of this document - provide a Strategy for a solid foundation for further development and growth for product.</a:t>
            </a:r>
            <a:endParaRPr b="0" i="0" sz="10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All suggestions come from the deep analysis of the requirements and current setup within products and best-fit the short-term, and long-term goals.</a:t>
            </a:r>
            <a:endParaRPr b="0" i="0" sz="10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6" name="Google Shape;96;p2"/>
          <p:cNvSpPr txBox="1"/>
          <p:nvPr>
            <p:ph idx="4294967295" type="ctrTitle"/>
          </p:nvPr>
        </p:nvSpPr>
        <p:spPr>
          <a:xfrm>
            <a:off x="406475" y="890676"/>
            <a:ext cx="36759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" sz="3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Intro &amp;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" sz="3000" u="none" cap="none" strike="noStrike">
                <a:solidFill>
                  <a:srgbClr val="EC9301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  <a:endParaRPr b="1" i="0" sz="3000" u="none" cap="none" strike="noStrike">
              <a:solidFill>
                <a:srgbClr val="EC930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6832650" y="963426"/>
            <a:ext cx="19854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000" u="none" cap="none" strike="noStrike">
                <a:solidFill>
                  <a:srgbClr val="EC9301"/>
                </a:solidFill>
                <a:latin typeface="Arial"/>
                <a:ea typeface="Arial"/>
                <a:cs typeface="Arial"/>
                <a:sym typeface="Arial"/>
              </a:rPr>
              <a:t>Team Composition</a:t>
            </a:r>
            <a:endParaRPr b="1" i="0" sz="1000" u="none" cap="none" strike="noStrike">
              <a:solidFill>
                <a:srgbClr val="EC930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The Team</a:t>
            </a:r>
            <a:endParaRPr b="1" i="0" sz="1000" u="none" cap="none" strike="noStrike">
              <a:solidFill>
                <a:srgbClr val="EC930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EC930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000" u="none" cap="none" strike="noStrike">
                <a:solidFill>
                  <a:srgbClr val="EC9301"/>
                </a:solidFill>
                <a:latin typeface="Arial"/>
                <a:ea typeface="Arial"/>
                <a:cs typeface="Arial"/>
                <a:sym typeface="Arial"/>
              </a:rPr>
              <a:t>Design Kit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MUI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000" u="none" cap="none" strike="noStrike">
                <a:solidFill>
                  <a:srgbClr val="EC9301"/>
                </a:solidFill>
                <a:latin typeface="Arial"/>
                <a:ea typeface="Arial"/>
                <a:cs typeface="Arial"/>
                <a:sym typeface="Arial"/>
              </a:rPr>
              <a:t>Links &amp; Materials</a:t>
            </a:r>
            <a:endParaRPr b="1" i="0" sz="1000" u="none" cap="none" strike="noStrike">
              <a:solidFill>
                <a:srgbClr val="EC930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E101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0"/>
            <a:ext cx="4000500" cy="5143500"/>
          </a:xfrm>
          <a:prstGeom prst="rect">
            <a:avLst/>
          </a:prstGeom>
          <a:solidFill>
            <a:srgbClr val="EEFF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EC93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>
            <p:ph type="title"/>
          </p:nvPr>
        </p:nvSpPr>
        <p:spPr>
          <a:xfrm>
            <a:off x="371250" y="782264"/>
            <a:ext cx="36759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0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Summary</a:t>
            </a:r>
            <a:endParaRPr b="1" sz="3000">
              <a:solidFill>
                <a:srgbClr val="3876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404523" y="336561"/>
            <a:ext cx="336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700" u="none" cap="none" strike="noStrike">
                <a:solidFill>
                  <a:srgbClr val="9E9E9E"/>
                </a:solidFill>
                <a:latin typeface="Montserrat"/>
                <a:ea typeface="Montserrat"/>
                <a:cs typeface="Montserrat"/>
                <a:sym typeface="Montserrat"/>
              </a:rPr>
              <a:t>DESIGN STRATEGY</a:t>
            </a:r>
            <a:r>
              <a:rPr b="1" i="0" lang="en" sz="7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DESIGN VISION</a:t>
            </a:r>
            <a:endParaRPr b="1" i="0" sz="700" u="none" cap="none" strike="noStrike">
              <a:solidFill>
                <a:srgbClr val="9E9E9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5" name="Google Shape;105;p3"/>
          <p:cNvGrpSpPr/>
          <p:nvPr/>
        </p:nvGrpSpPr>
        <p:grpSpPr>
          <a:xfrm>
            <a:off x="0" y="-6"/>
            <a:ext cx="9144000" cy="5150150"/>
            <a:chOff x="0" y="-6656"/>
            <a:chExt cx="9144000" cy="5150150"/>
          </a:xfrm>
        </p:grpSpPr>
        <p:sp>
          <p:nvSpPr>
            <p:cNvPr id="106" name="Google Shape;106;p3"/>
            <p:cNvSpPr/>
            <p:nvPr/>
          </p:nvSpPr>
          <p:spPr>
            <a:xfrm>
              <a:off x="86787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2134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35352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35352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0" y="1656380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0" y="27689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0" y="9239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0" y="346777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86787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40005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" name="Google Shape;118;p3"/>
          <p:cNvSpPr txBox="1"/>
          <p:nvPr/>
        </p:nvSpPr>
        <p:spPr>
          <a:xfrm>
            <a:off x="4506125" y="371897"/>
            <a:ext cx="45693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USER GROUPS 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Regular User, Admin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4506125" y="992233"/>
            <a:ext cx="45693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CUSTOMER JOURNEY MAP AS A SCOPE (±30 </a:t>
            </a:r>
            <a:r>
              <a:rPr b="1" lang="en" sz="800">
                <a:latin typeface="Montserrat"/>
                <a:ea typeface="Montserrat"/>
                <a:cs typeface="Montserrat"/>
                <a:sym typeface="Montserrat"/>
              </a:rPr>
              <a:t>EPICS</a:t>
            </a: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 </a:t>
            </a:r>
            <a:r>
              <a:rPr b="1" lang="en" sz="800">
                <a:latin typeface="Montserrat"/>
                <a:ea typeface="Montserrat"/>
                <a:cs typeface="Montserrat"/>
                <a:sym typeface="Montserrat"/>
              </a:rPr>
              <a:t>TO COVER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0E101A"/>
                </a:solidFill>
              </a:rPr>
              <a:t>W</a:t>
            </a:r>
            <a:r>
              <a:rPr b="0" i="0" lang="en" sz="800" u="none" cap="none" strike="noStrike">
                <a:solidFill>
                  <a:srgbClr val="0E101A"/>
                </a:solidFill>
                <a:latin typeface="Arial"/>
                <a:ea typeface="Arial"/>
                <a:cs typeface="Arial"/>
                <a:sym typeface="Arial"/>
              </a:rPr>
              <a:t>ith a </a:t>
            </a:r>
            <a:r>
              <a:rPr lang="en" sz="800">
                <a:solidFill>
                  <a:srgbClr val="0E101A"/>
                </a:solidFill>
              </a:rPr>
              <a:t>steps</a:t>
            </a:r>
            <a:r>
              <a:rPr b="0" i="0" lang="en" sz="800" u="none" cap="none" strike="noStrike">
                <a:solidFill>
                  <a:srgbClr val="0E101A"/>
                </a:solidFill>
                <a:latin typeface="Arial"/>
                <a:ea typeface="Arial"/>
                <a:cs typeface="Arial"/>
                <a:sym typeface="Arial"/>
              </a:rPr>
              <a:t>, actions, problems</a:t>
            </a:r>
            <a:r>
              <a:rPr lang="en" sz="800">
                <a:solidFill>
                  <a:srgbClr val="0E101A"/>
                </a:solidFill>
              </a:rPr>
              <a:t>, </a:t>
            </a:r>
            <a:r>
              <a:rPr b="0" i="0" lang="en" sz="800" u="none" cap="none" strike="noStrike">
                <a:solidFill>
                  <a:srgbClr val="0E101A"/>
                </a:solidFill>
                <a:latin typeface="Arial"/>
                <a:ea typeface="Arial"/>
                <a:cs typeface="Arial"/>
                <a:sym typeface="Arial"/>
              </a:rPr>
              <a:t>needs</a:t>
            </a:r>
            <a:r>
              <a:rPr lang="en" sz="800">
                <a:solidFill>
                  <a:srgbClr val="0E101A"/>
                </a:solidFill>
              </a:rPr>
              <a:t> and Hypotheses to validate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4506125" y="2188975"/>
            <a:ext cx="17193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TECHNOLOGIES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E101A"/>
                </a:solidFill>
                <a:latin typeface="Arial"/>
                <a:ea typeface="Arial"/>
                <a:cs typeface="Arial"/>
                <a:sym typeface="Arial"/>
              </a:rPr>
              <a:t>Web Product, </a:t>
            </a:r>
            <a:r>
              <a:rPr b="0" i="0" lang="en" sz="800" u="sng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MUI</a:t>
            </a:r>
            <a:endParaRPr b="0" i="0" sz="9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4506125" y="3301600"/>
            <a:ext cx="43485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DESIGN SYSTEM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Design for TvEyes own library with designed, and developed components based on chosen technologies to handle consistency across applications. Based on </a:t>
            </a:r>
            <a:r>
              <a:rPr lang="en" sz="800" u="sng">
                <a:solidFill>
                  <a:srgbClr val="38761D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MUI design Kit</a:t>
            </a:r>
            <a:endParaRPr sz="8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0" y="4007326"/>
            <a:ext cx="4653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4506125" y="4049900"/>
            <a:ext cx="24039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</a:t>
            </a:r>
            <a:r>
              <a:rPr b="1"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b="1" i="0" lang="en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OPTION 1 (±6-9 </a:t>
            </a:r>
            <a:r>
              <a:rPr b="1"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MONTH</a:t>
            </a:r>
            <a:r>
              <a:rPr b="1" i="0" lang="en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Lead Designer (time,</a:t>
            </a:r>
            <a:r>
              <a:rPr lang="en" sz="800">
                <a:solidFill>
                  <a:schemeClr val="dk1"/>
                </a:solidFill>
              </a:rPr>
              <a:t> </a:t>
            </a: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100%)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Middle Designer</a:t>
            </a:r>
            <a:r>
              <a:rPr lang="en" sz="800">
                <a:solidFill>
                  <a:schemeClr val="dk1"/>
                </a:solidFill>
              </a:rPr>
              <a:t> (time, 100%)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Manager (part-time, ±20%)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406475" y="1859900"/>
            <a:ext cx="3377700" cy="3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Project Goal:</a:t>
            </a:r>
            <a:br>
              <a:rPr lang="en" sz="900"/>
            </a:br>
            <a:r>
              <a:rPr lang="en" sz="900"/>
              <a:t>This project aims to design MVP with a new User Experience with the most important functions from the MMS with improved UX, and some functions from the Fusion product. Users must have the possibility to reset/change passwords on their own.</a:t>
            </a:r>
            <a:br>
              <a:rPr lang="en" sz="900"/>
            </a:b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MVP</a:t>
            </a:r>
            <a:r>
              <a:rPr lang="en" sz="900"/>
              <a:t> - is a product with enough features to attract early-adopter customers and validate a product idea.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MVP should cover:</a:t>
            </a:r>
            <a:br>
              <a:rPr lang="en" sz="900"/>
            </a:br>
            <a:r>
              <a:rPr lang="en" sz="900"/>
              <a:t>CJM 30 steps (Desktop), CJM ±12 steps (Mobile)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Target Audience: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PR Communication, Researchers.</a:t>
            </a:r>
            <a:endParaRPr sz="9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System (DS)</a:t>
            </a: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is a new solution with designed and developed components based on the framework to handle everything consistently. 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4506125" y="1590608"/>
            <a:ext cx="45693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SMALLER </a:t>
            </a:r>
            <a:r>
              <a:rPr b="1" lang="en" sz="800">
                <a:latin typeface="Montserrat"/>
                <a:ea typeface="Montserrat"/>
                <a:cs typeface="Montserrat"/>
                <a:sym typeface="Montserrat"/>
              </a:rPr>
              <a:t>CJM for MOBILE</a:t>
            </a: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AS A SCOPE (±</a:t>
            </a:r>
            <a:r>
              <a:rPr b="1" lang="en" sz="800"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800">
                <a:latin typeface="Montserrat"/>
                <a:ea typeface="Montserrat"/>
                <a:cs typeface="Montserrat"/>
                <a:sym typeface="Montserrat"/>
              </a:rPr>
              <a:t>EPICS</a:t>
            </a:r>
            <a:r>
              <a:rPr b="1" i="0" lang="en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 </a:t>
            </a:r>
            <a:r>
              <a:rPr b="1" lang="en" sz="800">
                <a:latin typeface="Montserrat"/>
                <a:ea typeface="Montserrat"/>
                <a:cs typeface="Montserrat"/>
                <a:sym typeface="Montserrat"/>
              </a:rPr>
              <a:t>TO COVER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0E101A"/>
                </a:solidFill>
              </a:rPr>
              <a:t>W</a:t>
            </a:r>
            <a:r>
              <a:rPr b="0" i="0" lang="en" sz="800" u="none" cap="none" strike="noStrike">
                <a:solidFill>
                  <a:srgbClr val="0E101A"/>
                </a:solidFill>
                <a:latin typeface="Arial"/>
                <a:ea typeface="Arial"/>
                <a:cs typeface="Arial"/>
                <a:sym typeface="Arial"/>
              </a:rPr>
              <a:t>ith a </a:t>
            </a:r>
            <a:r>
              <a:rPr lang="en" sz="800">
                <a:solidFill>
                  <a:srgbClr val="0E101A"/>
                </a:solidFill>
              </a:rPr>
              <a:t>steps</a:t>
            </a:r>
            <a:r>
              <a:rPr b="0" i="0" lang="en" sz="800" u="none" cap="none" strike="noStrike">
                <a:solidFill>
                  <a:srgbClr val="0E101A"/>
                </a:solidFill>
                <a:latin typeface="Arial"/>
                <a:ea typeface="Arial"/>
                <a:cs typeface="Arial"/>
                <a:sym typeface="Arial"/>
              </a:rPr>
              <a:t>, actions, problems</a:t>
            </a:r>
            <a:r>
              <a:rPr lang="en" sz="800">
                <a:solidFill>
                  <a:srgbClr val="0E101A"/>
                </a:solidFill>
              </a:rPr>
              <a:t>, </a:t>
            </a:r>
            <a:r>
              <a:rPr b="0" i="0" lang="en" sz="800" u="none" cap="none" strike="noStrike">
                <a:solidFill>
                  <a:srgbClr val="0E101A"/>
                </a:solidFill>
                <a:latin typeface="Arial"/>
                <a:ea typeface="Arial"/>
                <a:cs typeface="Arial"/>
                <a:sym typeface="Arial"/>
              </a:rPr>
              <a:t>needs</a:t>
            </a:r>
            <a:r>
              <a:rPr lang="en" sz="800">
                <a:solidFill>
                  <a:srgbClr val="0E101A"/>
                </a:solidFill>
              </a:rPr>
              <a:t> and Hypotheses to validate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6225425" y="2188975"/>
            <a:ext cx="20973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latin typeface="Montserrat"/>
                <a:ea typeface="Montserrat"/>
                <a:cs typeface="Montserrat"/>
                <a:sym typeface="Montserrat"/>
              </a:rPr>
              <a:t>OS TO SUPPORT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0E101A"/>
                </a:solidFill>
              </a:rPr>
              <a:t>Windows</a:t>
            </a:r>
            <a:r>
              <a:rPr b="0" i="0" lang="en" sz="800" u="none" cap="none" strike="noStrike">
                <a:solidFill>
                  <a:srgbClr val="0E101A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800">
                <a:solidFill>
                  <a:srgbClr val="0E101A"/>
                </a:solidFill>
              </a:rPr>
              <a:t>Android, MacOs, IOS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4506125" y="2762830"/>
            <a:ext cx="17193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latin typeface="Montserrat"/>
                <a:ea typeface="Montserrat"/>
                <a:cs typeface="Montserrat"/>
                <a:sym typeface="Montserrat"/>
              </a:rPr>
              <a:t>RESOLUTIONS LAPTOPS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0E101A"/>
                </a:solidFill>
              </a:rPr>
              <a:t>1280x720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6225425" y="2762830"/>
            <a:ext cx="20973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latin typeface="Montserrat"/>
                <a:ea typeface="Montserrat"/>
                <a:cs typeface="Montserrat"/>
                <a:sym typeface="Montserrat"/>
              </a:rPr>
              <a:t>RESOLUTIONS DESKTOPS</a:t>
            </a:r>
            <a:endParaRPr b="1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0E101A"/>
                </a:solidFill>
              </a:rPr>
              <a:t>DESKTOPS 1920x1080 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6684725" y="4049900"/>
            <a:ext cx="22017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</a:t>
            </a:r>
            <a:r>
              <a:rPr b="1"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b="1" i="0" lang="en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OPTION </a:t>
            </a:r>
            <a:r>
              <a:rPr b="1"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i="0" lang="en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b="1"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±6-9 MONTH</a:t>
            </a:r>
            <a:r>
              <a:rPr b="1" i="0" lang="en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Lead Designer (time,</a:t>
            </a:r>
            <a:r>
              <a:rPr lang="en" sz="800">
                <a:solidFill>
                  <a:schemeClr val="dk1"/>
                </a:solidFill>
              </a:rPr>
              <a:t> 75</a:t>
            </a: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1 Senior</a:t>
            </a:r>
            <a:r>
              <a:rPr lang="en" sz="800">
                <a:solidFill>
                  <a:schemeClr val="dk1"/>
                </a:solidFill>
              </a:rPr>
              <a:t> Designer (time, 100%)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1 Middle Designer (time, 100%)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g1339711b92e_2_0"/>
          <p:cNvGrpSpPr/>
          <p:nvPr/>
        </p:nvGrpSpPr>
        <p:grpSpPr>
          <a:xfrm>
            <a:off x="0" y="-6656"/>
            <a:ext cx="9144000" cy="5150150"/>
            <a:chOff x="0" y="-6656"/>
            <a:chExt cx="9144000" cy="5150150"/>
          </a:xfrm>
        </p:grpSpPr>
        <p:sp>
          <p:nvSpPr>
            <p:cNvPr id="135" name="Google Shape;135;g1339711b92e_2_0"/>
            <p:cNvSpPr/>
            <p:nvPr/>
          </p:nvSpPr>
          <p:spPr>
            <a:xfrm>
              <a:off x="86787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g1339711b92e_2_0"/>
            <p:cNvSpPr/>
            <p:nvPr/>
          </p:nvSpPr>
          <p:spPr>
            <a:xfrm>
              <a:off x="82134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g1339711b92e_2_0"/>
            <p:cNvSpPr/>
            <p:nvPr/>
          </p:nvSpPr>
          <p:spPr>
            <a:xfrm>
              <a:off x="35352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g1339711b92e_2_0"/>
            <p:cNvSpPr/>
            <p:nvPr/>
          </p:nvSpPr>
          <p:spPr>
            <a:xfrm>
              <a:off x="35352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g1339711b92e_2_0"/>
            <p:cNvSpPr/>
            <p:nvPr/>
          </p:nvSpPr>
          <p:spPr>
            <a:xfrm>
              <a:off x="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g1339711b92e_2_0"/>
            <p:cNvSpPr/>
            <p:nvPr/>
          </p:nvSpPr>
          <p:spPr>
            <a:xfrm>
              <a:off x="0" y="18545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1339711b92e_2_0"/>
            <p:cNvSpPr/>
            <p:nvPr/>
          </p:nvSpPr>
          <p:spPr>
            <a:xfrm>
              <a:off x="0" y="27655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1339711b92e_2_0"/>
            <p:cNvSpPr/>
            <p:nvPr/>
          </p:nvSpPr>
          <p:spPr>
            <a:xfrm>
              <a:off x="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g1339711b92e_2_0"/>
            <p:cNvSpPr/>
            <p:nvPr/>
          </p:nvSpPr>
          <p:spPr>
            <a:xfrm>
              <a:off x="0" y="9239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1339711b92e_2_0"/>
            <p:cNvSpPr/>
            <p:nvPr/>
          </p:nvSpPr>
          <p:spPr>
            <a:xfrm>
              <a:off x="0" y="3227200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1339711b92e_2_0"/>
            <p:cNvSpPr/>
            <p:nvPr/>
          </p:nvSpPr>
          <p:spPr>
            <a:xfrm>
              <a:off x="0" y="3686603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g1339711b92e_2_0"/>
            <p:cNvSpPr/>
            <p:nvPr/>
          </p:nvSpPr>
          <p:spPr>
            <a:xfrm>
              <a:off x="86787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g1339711b92e_2_0"/>
          <p:cNvSpPr/>
          <p:nvPr/>
        </p:nvSpPr>
        <p:spPr>
          <a:xfrm>
            <a:off x="0" y="-3325"/>
            <a:ext cx="4008000" cy="5143500"/>
          </a:xfrm>
          <a:prstGeom prst="rect">
            <a:avLst/>
          </a:prstGeom>
          <a:solidFill>
            <a:srgbClr val="FFF6DD"/>
          </a:solidFill>
          <a:ln>
            <a:noFill/>
          </a:ln>
          <a:effectLst>
            <a:outerShdw blurRad="200025" rotWithShape="0" algn="bl" dir="5400000" dist="5715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1339711b92e_2_0"/>
          <p:cNvSpPr txBox="1"/>
          <p:nvPr>
            <p:ph type="title"/>
          </p:nvPr>
        </p:nvSpPr>
        <p:spPr>
          <a:xfrm>
            <a:off x="406469" y="860689"/>
            <a:ext cx="36759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CJM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000">
                <a:solidFill>
                  <a:srgbClr val="B45F06"/>
                </a:solidFill>
                <a:latin typeface="Montserrat"/>
                <a:ea typeface="Montserrat"/>
                <a:cs typeface="Montserrat"/>
                <a:sym typeface="Montserrat"/>
              </a:rPr>
              <a:t>Scope for MVP</a:t>
            </a:r>
            <a:endParaRPr b="1" sz="3000">
              <a:solidFill>
                <a:srgbClr val="B45F0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g1339711b92e_2_0"/>
          <p:cNvSpPr txBox="1"/>
          <p:nvPr/>
        </p:nvSpPr>
        <p:spPr>
          <a:xfrm>
            <a:off x="439747" y="337150"/>
            <a:ext cx="336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00">
                <a:solidFill>
                  <a:srgbClr val="9E9E9E"/>
                </a:solidFill>
                <a:latin typeface="Montserrat"/>
                <a:ea typeface="Montserrat"/>
                <a:cs typeface="Montserrat"/>
                <a:sym typeface="Montserrat"/>
              </a:rPr>
              <a:t>DESIGN STRATEGY</a:t>
            </a:r>
            <a:r>
              <a:rPr b="1" i="0" lang="en" sz="7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SCOPE FOR </a:t>
            </a:r>
            <a:r>
              <a:rPr b="1" lang="en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MVP from CJM</a:t>
            </a:r>
            <a:endParaRPr b="1" i="0" sz="7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g1339711b92e_2_0"/>
          <p:cNvSpPr txBox="1"/>
          <p:nvPr/>
        </p:nvSpPr>
        <p:spPr>
          <a:xfrm>
            <a:off x="406475" y="2078874"/>
            <a:ext cx="3240000" cy="28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CJM - A Customer Journey Map</a:t>
            </a: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visually represents a customer's experience with your brand. These visuals tell a story about how a customer moves through each interaction phase and experiences each phase.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Break scenario needs a statement into phases. Inspiration from the current </a:t>
            </a:r>
            <a:r>
              <a:rPr lang="en" sz="800">
                <a:solidFill>
                  <a:schemeClr val="dk1"/>
                </a:solidFill>
              </a:rPr>
              <a:t>MMS with some features/steps from SCOUT and FUSION with</a:t>
            </a: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new ideas and information from our users.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mapped user tasks for each phase/step and wrote down these tasks with pain points and ideas for each phase/step.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been shared evidence and ideas: copy/pasting screenshots from all products, possible solutions, and anything that can help.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This is an instrument to understand the important scope for MVP, illustrate all problems, needs, and hypotheses to develop.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u="sng">
                <a:solidFill>
                  <a:srgbClr val="B45F0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Full Diagram with CJM</a:t>
            </a:r>
            <a:endParaRPr sz="800">
              <a:solidFill>
                <a:srgbClr val="B45F06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g1339711b92e_2_0"/>
          <p:cNvPicPr preferRelativeResize="0"/>
          <p:nvPr/>
        </p:nvPicPr>
        <p:blipFill rotWithShape="1">
          <a:blip r:embed="rId4">
            <a:alphaModFix/>
          </a:blip>
          <a:srcRect b="1419" l="0" r="27193" t="0"/>
          <a:stretch/>
        </p:blipFill>
        <p:spPr>
          <a:xfrm>
            <a:off x="4082375" y="641950"/>
            <a:ext cx="5061627" cy="400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339711b92e_2_21"/>
          <p:cNvSpPr/>
          <p:nvPr/>
        </p:nvSpPr>
        <p:spPr>
          <a:xfrm>
            <a:off x="4006925" y="-6425"/>
            <a:ext cx="5137200" cy="51501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" name="Google Shape;157;g1339711b92e_2_21"/>
          <p:cNvGrpSpPr/>
          <p:nvPr/>
        </p:nvGrpSpPr>
        <p:grpSpPr>
          <a:xfrm>
            <a:off x="0" y="-6656"/>
            <a:ext cx="9144000" cy="5150150"/>
            <a:chOff x="0" y="-6656"/>
            <a:chExt cx="9144000" cy="5150150"/>
          </a:xfrm>
        </p:grpSpPr>
        <p:sp>
          <p:nvSpPr>
            <p:cNvPr id="158" name="Google Shape;158;g1339711b92e_2_21"/>
            <p:cNvSpPr/>
            <p:nvPr/>
          </p:nvSpPr>
          <p:spPr>
            <a:xfrm>
              <a:off x="86787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g1339711b92e_2_21"/>
            <p:cNvSpPr/>
            <p:nvPr/>
          </p:nvSpPr>
          <p:spPr>
            <a:xfrm>
              <a:off x="82134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1339711b92e_2_21"/>
            <p:cNvSpPr/>
            <p:nvPr/>
          </p:nvSpPr>
          <p:spPr>
            <a:xfrm>
              <a:off x="35352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g1339711b92e_2_21"/>
            <p:cNvSpPr/>
            <p:nvPr/>
          </p:nvSpPr>
          <p:spPr>
            <a:xfrm>
              <a:off x="35352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g1339711b92e_2_21"/>
            <p:cNvSpPr/>
            <p:nvPr/>
          </p:nvSpPr>
          <p:spPr>
            <a:xfrm>
              <a:off x="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g1339711b92e_2_21"/>
            <p:cNvSpPr/>
            <p:nvPr/>
          </p:nvSpPr>
          <p:spPr>
            <a:xfrm>
              <a:off x="0" y="18545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g1339711b92e_2_21"/>
            <p:cNvSpPr/>
            <p:nvPr/>
          </p:nvSpPr>
          <p:spPr>
            <a:xfrm>
              <a:off x="0" y="27655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g1339711b92e_2_21"/>
            <p:cNvSpPr/>
            <p:nvPr/>
          </p:nvSpPr>
          <p:spPr>
            <a:xfrm>
              <a:off x="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1339711b92e_2_21"/>
            <p:cNvSpPr/>
            <p:nvPr/>
          </p:nvSpPr>
          <p:spPr>
            <a:xfrm>
              <a:off x="0" y="9239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g1339711b92e_2_21"/>
            <p:cNvSpPr/>
            <p:nvPr/>
          </p:nvSpPr>
          <p:spPr>
            <a:xfrm>
              <a:off x="0" y="3227200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g1339711b92e_2_21"/>
            <p:cNvSpPr/>
            <p:nvPr/>
          </p:nvSpPr>
          <p:spPr>
            <a:xfrm>
              <a:off x="0" y="3686603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g1339711b92e_2_21"/>
            <p:cNvSpPr/>
            <p:nvPr/>
          </p:nvSpPr>
          <p:spPr>
            <a:xfrm>
              <a:off x="86787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" name="Google Shape;170;g1339711b92e_2_21"/>
          <p:cNvSpPr/>
          <p:nvPr/>
        </p:nvSpPr>
        <p:spPr>
          <a:xfrm>
            <a:off x="0" y="-3325"/>
            <a:ext cx="4008000" cy="5143500"/>
          </a:xfrm>
          <a:prstGeom prst="rect">
            <a:avLst/>
          </a:prstGeom>
          <a:solidFill>
            <a:srgbClr val="ECF6FF"/>
          </a:solidFill>
          <a:ln>
            <a:noFill/>
          </a:ln>
          <a:effectLst>
            <a:outerShdw blurRad="200025" rotWithShape="0" algn="bl" dir="5400000" dist="5715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1339711b92e_2_21"/>
          <p:cNvSpPr txBox="1"/>
          <p:nvPr>
            <p:ph type="title"/>
          </p:nvPr>
        </p:nvSpPr>
        <p:spPr>
          <a:xfrm>
            <a:off x="406469" y="860689"/>
            <a:ext cx="36759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LOW-FI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0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WIREFRAMES</a:t>
            </a:r>
            <a:endParaRPr b="1" sz="30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g1339711b92e_2_21"/>
          <p:cNvSpPr txBox="1"/>
          <p:nvPr/>
        </p:nvSpPr>
        <p:spPr>
          <a:xfrm>
            <a:off x="439747" y="337150"/>
            <a:ext cx="336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00">
                <a:solidFill>
                  <a:srgbClr val="9E9E9E"/>
                </a:solidFill>
                <a:latin typeface="Montserrat"/>
                <a:ea typeface="Montserrat"/>
                <a:cs typeface="Montserrat"/>
                <a:sym typeface="Montserrat"/>
              </a:rPr>
              <a:t>DESIGN STRATEGY</a:t>
            </a:r>
            <a:r>
              <a:rPr b="1" i="0" lang="en" sz="7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HYPOT</a:t>
            </a:r>
            <a:r>
              <a:rPr b="1" lang="en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HESIS IN LOW-FI WIREFRAMES</a:t>
            </a:r>
            <a:endParaRPr b="1" i="0" sz="7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g1339711b92e_2_21"/>
          <p:cNvSpPr txBox="1"/>
          <p:nvPr/>
        </p:nvSpPr>
        <p:spPr>
          <a:xfrm>
            <a:off x="406475" y="2078874"/>
            <a:ext cx="3240000" cy="28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</a:rPr>
              <a:t>MMS WEB 3.0 -</a:t>
            </a:r>
            <a:r>
              <a:rPr lang="en" sz="800">
                <a:solidFill>
                  <a:schemeClr val="dk1"/>
                </a:solidFill>
              </a:rPr>
              <a:t> It is the initial concept to combine more ideas, feedback for the next iteration with more accurate solutions.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</a:rPr>
              <a:t>Target Audience: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PR Communication, Researchers.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</a:rPr>
              <a:t>Problems to Solve:</a:t>
            </a:r>
            <a:endParaRPr b="1"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-"/>
            </a:pPr>
            <a:r>
              <a:rPr lang="en" sz="800">
                <a:solidFill>
                  <a:schemeClr val="dk1"/>
                </a:solidFill>
              </a:rPr>
              <a:t>Complicated Search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-"/>
            </a:pPr>
            <a:r>
              <a:rPr lang="en" sz="800">
                <a:solidFill>
                  <a:schemeClr val="dk1"/>
                </a:solidFill>
              </a:rPr>
              <a:t>User can't change settings or password.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-"/>
            </a:pPr>
            <a:r>
              <a:rPr lang="en" sz="800">
                <a:solidFill>
                  <a:schemeClr val="dk1"/>
                </a:solidFill>
              </a:rPr>
              <a:t>Old design with dated UX patterns.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-"/>
            </a:pPr>
            <a:r>
              <a:rPr lang="en" sz="800">
                <a:solidFill>
                  <a:schemeClr val="dk1"/>
                </a:solidFill>
              </a:rPr>
              <a:t>Not possible avoid authentication even with“remember me” checkmark.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-"/>
            </a:pPr>
            <a:r>
              <a:rPr lang="en" sz="800">
                <a:solidFill>
                  <a:schemeClr val="dk1"/>
                </a:solidFill>
              </a:rPr>
              <a:t>Hard to check alerts, review &amp; share clip from mobile.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-"/>
            </a:pPr>
            <a:r>
              <a:rPr lang="en" sz="800">
                <a:solidFill>
                  <a:schemeClr val="dk1"/>
                </a:solidFill>
              </a:rPr>
              <a:t>Clip Viewer: Not possible to scroll video.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-"/>
            </a:pPr>
            <a:r>
              <a:rPr lang="en" sz="800">
                <a:solidFill>
                  <a:schemeClr val="dk1"/>
                </a:solidFill>
              </a:rPr>
              <a:t>Clip Viewer: Not possible to manage volume.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-"/>
            </a:pPr>
            <a:r>
              <a:rPr lang="en" sz="800">
                <a:solidFill>
                  <a:schemeClr val="dk1"/>
                </a:solidFill>
              </a:rPr>
              <a:t>User should enter login and password too many times.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FIGMA PROTOTYPE</a:t>
            </a:r>
            <a:endParaRPr sz="800">
              <a:solidFill>
                <a:srgbClr val="1155CC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g1339711b92e_2_21" title="tveyes-demo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6600" y="1047169"/>
            <a:ext cx="4878648" cy="3049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" name="Google Shape;179;p5"/>
          <p:cNvGraphicFramePr/>
          <p:nvPr/>
        </p:nvGraphicFramePr>
        <p:xfrm>
          <a:off x="484113" y="12156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{E10BAD3E-05B6-45A1-A309-C2305F226E0F}</a:tableStyleId>
              </a:tblPr>
              <a:tblGrid>
                <a:gridCol w="1365675"/>
                <a:gridCol w="1365675"/>
                <a:gridCol w="1365675"/>
                <a:gridCol w="1365675"/>
                <a:gridCol w="1365675"/>
                <a:gridCol w="1365675"/>
              </a:tblGrid>
              <a:tr h="369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Jul</a:t>
                      </a:r>
                      <a:endParaRPr sz="1000" u="none" cap="none" strike="noStrike">
                        <a:solidFill>
                          <a:schemeClr val="dk2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1</a:t>
                      </a:r>
                      <a:r>
                        <a:rPr lang="en" sz="1000" u="none" cap="none" strike="noStrike">
                          <a:solidFill>
                            <a:schemeClr val="dk2"/>
                          </a:solidFill>
                        </a:rPr>
                        <a:t> week</a:t>
                      </a:r>
                      <a:endParaRPr sz="10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Jul</a:t>
                      </a:r>
                      <a:endParaRPr sz="1000" u="none" cap="none" strike="noStrike">
                        <a:solidFill>
                          <a:schemeClr val="dk2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2"/>
                          </a:solidFill>
                        </a:rPr>
                        <a:t>2 week</a:t>
                      </a:r>
                      <a:endParaRPr sz="10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Jul</a:t>
                      </a:r>
                      <a:endParaRPr sz="1000" u="none" cap="none" strike="noStrike">
                        <a:solidFill>
                          <a:schemeClr val="dk2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2"/>
                          </a:solidFill>
                        </a:rPr>
                        <a:t>3 week</a:t>
                      </a:r>
                      <a:endParaRPr sz="10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Jul</a:t>
                      </a:r>
                      <a:endParaRPr sz="1000" u="none" cap="none" strike="noStrike">
                        <a:solidFill>
                          <a:schemeClr val="dk2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2"/>
                          </a:solidFill>
                        </a:rPr>
                        <a:t>4 week</a:t>
                      </a:r>
                      <a:endParaRPr sz="10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Aug</a:t>
                      </a:r>
                      <a:endParaRPr sz="1000" u="none" cap="none" strike="noStrike">
                        <a:solidFill>
                          <a:schemeClr val="dk2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2"/>
                          </a:solidFill>
                        </a:rPr>
                        <a:t>1 week</a:t>
                      </a:r>
                      <a:endParaRPr sz="10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Aug</a:t>
                      </a:r>
                      <a:endParaRPr sz="1000" u="none" cap="none" strike="noStrike">
                        <a:solidFill>
                          <a:schemeClr val="dk2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2"/>
                          </a:solidFill>
                        </a:rPr>
                        <a:t>2 week</a:t>
                      </a:r>
                      <a:endParaRPr sz="10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90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descr="Timeline background shape" id="180" name="Google Shape;180;p5"/>
          <p:cNvSpPr/>
          <p:nvPr/>
        </p:nvSpPr>
        <p:spPr>
          <a:xfrm>
            <a:off x="3211650" y="3995625"/>
            <a:ext cx="1365600" cy="457500"/>
          </a:xfrm>
          <a:prstGeom prst="homePlate">
            <a:avLst>
              <a:gd fmla="val 5000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imeline background shape" id="181" name="Google Shape;181;p5"/>
          <p:cNvSpPr/>
          <p:nvPr/>
        </p:nvSpPr>
        <p:spPr>
          <a:xfrm>
            <a:off x="0" y="3359456"/>
            <a:ext cx="1820400" cy="457500"/>
          </a:xfrm>
          <a:prstGeom prst="homePlate">
            <a:avLst>
              <a:gd fmla="val 50000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imeline background shape" id="182" name="Google Shape;182;p5"/>
          <p:cNvSpPr/>
          <p:nvPr/>
        </p:nvSpPr>
        <p:spPr>
          <a:xfrm>
            <a:off x="489150" y="2114256"/>
            <a:ext cx="2722500" cy="457500"/>
          </a:xfrm>
          <a:prstGeom prst="homePlate">
            <a:avLst>
              <a:gd fmla="val 50000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496565" y="2092006"/>
            <a:ext cx="2700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Preparation to Design Phase</a:t>
            </a:r>
            <a:endParaRPr b="1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4" name="Google Shape;184;p5"/>
          <p:cNvGrpSpPr/>
          <p:nvPr/>
        </p:nvGrpSpPr>
        <p:grpSpPr>
          <a:xfrm>
            <a:off x="3215199" y="2122163"/>
            <a:ext cx="5448551" cy="441664"/>
            <a:chOff x="6448867" y="3733725"/>
            <a:chExt cx="2853840" cy="351308"/>
          </a:xfrm>
        </p:grpSpPr>
        <p:sp>
          <p:nvSpPr>
            <p:cNvPr id="185" name="Google Shape;185;p5"/>
            <p:cNvSpPr/>
            <p:nvPr/>
          </p:nvSpPr>
          <p:spPr>
            <a:xfrm>
              <a:off x="6448867" y="3733733"/>
              <a:ext cx="2169900" cy="351300"/>
            </a:xfrm>
            <a:prstGeom prst="homePlate">
              <a:avLst>
                <a:gd fmla="val 50000" name="adj"/>
              </a:avLst>
            </a:prstGeom>
            <a:solidFill>
              <a:srgbClr val="EC93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lang="en" sz="1000">
                  <a:solidFill>
                    <a:schemeClr val="lt1"/>
                  </a:solidFill>
                </a:rPr>
                <a:t>Design Phase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8499007" y="3733725"/>
              <a:ext cx="346500" cy="351300"/>
            </a:xfrm>
            <a:prstGeom prst="chevron">
              <a:avLst>
                <a:gd fmla="val 50000" name="adj"/>
              </a:avLst>
            </a:prstGeom>
            <a:solidFill>
              <a:srgbClr val="EC93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8727607" y="3733725"/>
              <a:ext cx="346500" cy="351300"/>
            </a:xfrm>
            <a:prstGeom prst="chevron">
              <a:avLst>
                <a:gd fmla="val 50000" name="adj"/>
              </a:avLst>
            </a:prstGeom>
            <a:solidFill>
              <a:srgbClr val="EC93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8956207" y="3733725"/>
              <a:ext cx="346500" cy="351300"/>
            </a:xfrm>
            <a:prstGeom prst="chevron">
              <a:avLst>
                <a:gd fmla="val 50000" name="adj"/>
              </a:avLst>
            </a:prstGeom>
            <a:solidFill>
              <a:srgbClr val="EC93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9" name="Google Shape;189;p5"/>
          <p:cNvSpPr txBox="1"/>
          <p:nvPr/>
        </p:nvSpPr>
        <p:spPr>
          <a:xfrm>
            <a:off x="35925" y="3359456"/>
            <a:ext cx="1712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Strategy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Development &amp; Presentation </a:t>
            </a:r>
            <a:r>
              <a:rPr b="1" lang="en" sz="800">
                <a:solidFill>
                  <a:schemeClr val="dk1"/>
                </a:solidFill>
              </a:rPr>
              <a:t>Process</a:t>
            </a:r>
            <a:endParaRPr b="1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descr="Timeline background shape" id="190" name="Google Shape;190;p5"/>
          <p:cNvSpPr/>
          <p:nvPr/>
        </p:nvSpPr>
        <p:spPr>
          <a:xfrm>
            <a:off x="1849800" y="4000156"/>
            <a:ext cx="1365600" cy="457500"/>
          </a:xfrm>
          <a:prstGeom prst="homePlate">
            <a:avLst>
              <a:gd fmla="val 50000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1873950" y="4000156"/>
            <a:ext cx="1712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&amp; Agile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 Organisation</a:t>
            </a:r>
            <a:endParaRPr b="1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2" name="Google Shape;192;p5"/>
          <p:cNvGrpSpPr/>
          <p:nvPr/>
        </p:nvGrpSpPr>
        <p:grpSpPr>
          <a:xfrm>
            <a:off x="0" y="-6"/>
            <a:ext cx="9144000" cy="5150150"/>
            <a:chOff x="0" y="-6656"/>
            <a:chExt cx="9144000" cy="5150150"/>
          </a:xfrm>
        </p:grpSpPr>
        <p:sp>
          <p:nvSpPr>
            <p:cNvPr id="193" name="Google Shape;193;p5"/>
            <p:cNvSpPr/>
            <p:nvPr/>
          </p:nvSpPr>
          <p:spPr>
            <a:xfrm>
              <a:off x="86787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82134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35352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35352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0" y="1656380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0" y="27689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0" y="9239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0" y="346777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86787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40005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Timeline background shape" id="205" name="Google Shape;205;p5"/>
          <p:cNvSpPr/>
          <p:nvPr/>
        </p:nvSpPr>
        <p:spPr>
          <a:xfrm>
            <a:off x="1849800" y="3359456"/>
            <a:ext cx="871500" cy="457500"/>
          </a:xfrm>
          <a:prstGeom prst="homePlate">
            <a:avLst>
              <a:gd fmla="val 50000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1849800" y="3359456"/>
            <a:ext cx="7422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Prepare Templates</a:t>
            </a:r>
            <a:endParaRPr b="1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718100" y="4000156"/>
            <a:ext cx="9468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" name="Google Shape;208;p5"/>
          <p:cNvCxnSpPr/>
          <p:nvPr/>
        </p:nvCxnSpPr>
        <p:spPr>
          <a:xfrm rot="10800000">
            <a:off x="488350" y="1886651"/>
            <a:ext cx="0" cy="86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5"/>
          <p:cNvSpPr txBox="1"/>
          <p:nvPr/>
        </p:nvSpPr>
        <p:spPr>
          <a:xfrm>
            <a:off x="490030" y="1768220"/>
            <a:ext cx="6780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Kick Off</a:t>
            </a:r>
            <a:endParaRPr b="1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descr="Timeline background shape" id="210" name="Google Shape;210;p5"/>
          <p:cNvSpPr/>
          <p:nvPr/>
        </p:nvSpPr>
        <p:spPr>
          <a:xfrm>
            <a:off x="4590131" y="3354925"/>
            <a:ext cx="1356600" cy="457500"/>
          </a:xfrm>
          <a:prstGeom prst="homePlate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4614275" y="3354925"/>
            <a:ext cx="11820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Resources Ramp-Up</a:t>
            </a:r>
            <a:endParaRPr b="1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404523" y="336561"/>
            <a:ext cx="336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700" u="none" cap="none" strike="noStrike">
                <a:solidFill>
                  <a:srgbClr val="9E9E9E"/>
                </a:solidFill>
                <a:latin typeface="Montserrat"/>
                <a:ea typeface="Montserrat"/>
                <a:cs typeface="Montserrat"/>
                <a:sym typeface="Montserrat"/>
              </a:rPr>
              <a:t>DESIGN STRATEGY</a:t>
            </a:r>
            <a:r>
              <a:rPr b="1" i="0" lang="en" sz="7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PLAN / ROADMAP</a:t>
            </a:r>
            <a:endParaRPr b="1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Ramp-up</a:t>
            </a:r>
            <a:endParaRPr b="1" i="0" sz="700" u="none" cap="none" strike="noStrike">
              <a:solidFill>
                <a:srgbClr val="9E9E9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descr="Timeline background shape" id="213" name="Google Shape;213;p5"/>
          <p:cNvSpPr/>
          <p:nvPr/>
        </p:nvSpPr>
        <p:spPr>
          <a:xfrm>
            <a:off x="5937400" y="3354925"/>
            <a:ext cx="1356600" cy="457500"/>
          </a:xfrm>
          <a:prstGeom prst="homePlate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5961550" y="3354925"/>
            <a:ext cx="11820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Backlog Organisation and </a:t>
            </a:r>
            <a:r>
              <a:rPr b="1" lang="en" sz="800">
                <a:solidFill>
                  <a:schemeClr val="dk1"/>
                </a:solidFill>
              </a:rPr>
              <a:t>Prioritization</a:t>
            </a:r>
            <a:endParaRPr b="1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3211650" y="3995625"/>
            <a:ext cx="13176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</a:rPr>
              <a:t>Backlog in Jira</a:t>
            </a: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CJMs</a:t>
            </a:r>
            <a:endParaRPr b="1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descr="Timeline background shape" id="216" name="Google Shape;216;p5"/>
          <p:cNvSpPr/>
          <p:nvPr/>
        </p:nvSpPr>
        <p:spPr>
          <a:xfrm>
            <a:off x="4590125" y="2714225"/>
            <a:ext cx="4083000" cy="457500"/>
          </a:xfrm>
          <a:prstGeom prst="homePlate">
            <a:avLst>
              <a:gd fmla="val 50000" name="adj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System (DS)</a:t>
            </a: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Concept with UI components from the chosen framework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imeline background shape" id="217" name="Google Shape;217;p5"/>
          <p:cNvSpPr/>
          <p:nvPr/>
        </p:nvSpPr>
        <p:spPr>
          <a:xfrm>
            <a:off x="2693475" y="3359450"/>
            <a:ext cx="1893000" cy="457500"/>
          </a:xfrm>
          <a:prstGeom prst="homePlate">
            <a:avLst>
              <a:gd fmla="val 50000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Setup Environment in Figma</a:t>
            </a:r>
            <a:r>
              <a:rPr lang="en" sz="800">
                <a:solidFill>
                  <a:schemeClr val="dk1"/>
                </a:solidFill>
              </a:rPr>
              <a:t>,</a:t>
            </a: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800">
                <a:solidFill>
                  <a:schemeClr val="dk1"/>
                </a:solidFill>
              </a:rPr>
              <a:t>Design System, Branches, Templates. Licenses. Requests for Brand Books and etc.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394876" y="4640850"/>
            <a:ext cx="16482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sng" cap="none" strike="noStrike">
                <a:solidFill>
                  <a:srgbClr val="EC930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Initial Backlog and Roadmap</a:t>
            </a:r>
            <a:endParaRPr b="1" i="0" sz="800" u="none" cap="none" strike="noStrike">
              <a:solidFill>
                <a:srgbClr val="EC930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descr="Timeline background shape" id="219" name="Google Shape;219;p5"/>
          <p:cNvSpPr/>
          <p:nvPr/>
        </p:nvSpPr>
        <p:spPr>
          <a:xfrm>
            <a:off x="7312132" y="3354925"/>
            <a:ext cx="1356600" cy="457500"/>
          </a:xfrm>
          <a:prstGeom prst="homePlate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7336274" y="3354925"/>
            <a:ext cx="13176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</a:rPr>
              <a:t>Design Spikes to Define Scope and Validate </a:t>
            </a:r>
            <a:r>
              <a:rPr b="1" lang="en" sz="800">
                <a:solidFill>
                  <a:schemeClr val="dk1"/>
                </a:solidFill>
              </a:rPr>
              <a:t>Hypothesis</a:t>
            </a:r>
            <a:r>
              <a:rPr b="1" lang="en" sz="800">
                <a:solidFill>
                  <a:schemeClr val="dk1"/>
                </a:solidFill>
              </a:rPr>
              <a:t>.</a:t>
            </a:r>
            <a:endParaRPr b="1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" name="Google Shape;225;p6"/>
          <p:cNvGraphicFramePr/>
          <p:nvPr/>
        </p:nvGraphicFramePr>
        <p:xfrm>
          <a:off x="484113" y="12156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{E10BAD3E-05B6-45A1-A309-C2305F226E0F}</a:tableStyleId>
              </a:tblPr>
              <a:tblGrid>
                <a:gridCol w="1371375"/>
                <a:gridCol w="1371375"/>
                <a:gridCol w="1371375"/>
                <a:gridCol w="1371375"/>
                <a:gridCol w="1371375"/>
                <a:gridCol w="1371375"/>
              </a:tblGrid>
              <a:tr h="48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Jul</a:t>
                      </a:r>
                      <a:endParaRPr sz="1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Aug</a:t>
                      </a:r>
                      <a:endParaRPr sz="10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Sep</a:t>
                      </a:r>
                      <a:endParaRPr sz="10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Oct</a:t>
                      </a:r>
                      <a:endParaRPr sz="10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Nov</a:t>
                      </a:r>
                      <a:endParaRPr sz="10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</a:rPr>
                        <a:t>Dec</a:t>
                      </a:r>
                      <a:endParaRPr sz="10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290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>
                          <a:alpha val="0"/>
                        </a:srgb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26" name="Google Shape;226;p6"/>
          <p:cNvGrpSpPr/>
          <p:nvPr/>
        </p:nvGrpSpPr>
        <p:grpSpPr>
          <a:xfrm>
            <a:off x="0" y="-6"/>
            <a:ext cx="9144000" cy="5150150"/>
            <a:chOff x="0" y="-6656"/>
            <a:chExt cx="9144000" cy="5150150"/>
          </a:xfrm>
        </p:grpSpPr>
        <p:sp>
          <p:nvSpPr>
            <p:cNvPr id="227" name="Google Shape;227;p6"/>
            <p:cNvSpPr/>
            <p:nvPr/>
          </p:nvSpPr>
          <p:spPr>
            <a:xfrm>
              <a:off x="86787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82134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35352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35352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0" y="1656380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0" y="27689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0" y="9239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0" y="346777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86787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40005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" name="Google Shape;239;p6"/>
          <p:cNvSpPr txBox="1"/>
          <p:nvPr/>
        </p:nvSpPr>
        <p:spPr>
          <a:xfrm>
            <a:off x="404525" y="336533"/>
            <a:ext cx="33684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700" u="none" cap="none" strike="noStrike">
                <a:solidFill>
                  <a:srgbClr val="9E9E9E"/>
                </a:solidFill>
                <a:latin typeface="Montserrat"/>
                <a:ea typeface="Montserrat"/>
                <a:cs typeface="Montserrat"/>
                <a:sym typeface="Montserrat"/>
              </a:rPr>
              <a:t>DESIGN STRATEGY</a:t>
            </a:r>
            <a:r>
              <a:rPr b="1" i="0" lang="en" sz="7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PLAN / ROADMAP</a:t>
            </a:r>
            <a:endParaRPr b="1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Design Phase</a:t>
            </a:r>
            <a:endParaRPr b="1" i="0" sz="700" u="none" cap="none" strike="noStrike">
              <a:solidFill>
                <a:srgbClr val="9E9E9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descr="Timeline background shape" id="240" name="Google Shape;240;p6"/>
          <p:cNvSpPr/>
          <p:nvPr/>
        </p:nvSpPr>
        <p:spPr>
          <a:xfrm>
            <a:off x="1912949" y="2708225"/>
            <a:ext cx="717300" cy="457500"/>
          </a:xfrm>
          <a:prstGeom prst="homePlate">
            <a:avLst>
              <a:gd fmla="val 50000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imeline background shape" id="241" name="Google Shape;241;p6"/>
          <p:cNvSpPr/>
          <p:nvPr/>
        </p:nvSpPr>
        <p:spPr>
          <a:xfrm>
            <a:off x="7858725" y="2044625"/>
            <a:ext cx="853800" cy="457500"/>
          </a:xfrm>
          <a:prstGeom prst="homePlate">
            <a:avLst>
              <a:gd fmla="val 50000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7858725" y="2044775"/>
            <a:ext cx="717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Hand-off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 txBox="1"/>
          <p:nvPr/>
        </p:nvSpPr>
        <p:spPr>
          <a:xfrm>
            <a:off x="3983800" y="336550"/>
            <a:ext cx="22098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lang="en" sz="600">
                <a:solidFill>
                  <a:schemeClr val="dk1"/>
                </a:solidFill>
              </a:rPr>
              <a:t>MMS WEB 3.0 MVP</a:t>
            </a:r>
            <a:endParaRPr b="1" i="0" sz="6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It is the initial concept to combine more ideas, feedback for the next iteration with more accurate solutions. 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6404475" y="336550"/>
            <a:ext cx="23079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DESIGN SYSTEM (DS)</a:t>
            </a:r>
            <a:endParaRPr b="1" i="0" sz="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>
                <a:solidFill>
                  <a:schemeClr val="dk1"/>
                </a:solidFill>
              </a:rPr>
              <a:t>Design for TvEyes own library with designed, and developed components based on chosen technologies to handle consistency across applications. Based on MUI design Kit  </a:t>
            </a:r>
            <a:endParaRPr b="1" i="0" sz="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2091425" y="2708225"/>
            <a:ext cx="6030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600">
                <a:solidFill>
                  <a:schemeClr val="lt1"/>
                </a:solidFill>
              </a:rPr>
              <a:t>MMS 3.0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Concept</a:t>
            </a:r>
            <a:endParaRPr b="1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imeline background shape" id="246" name="Google Shape;246;p6"/>
          <p:cNvSpPr/>
          <p:nvPr/>
        </p:nvSpPr>
        <p:spPr>
          <a:xfrm>
            <a:off x="1639905" y="2704775"/>
            <a:ext cx="513600" cy="457500"/>
          </a:xfrm>
          <a:prstGeom prst="homePlate">
            <a:avLst>
              <a:gd fmla="val 50000" name="adj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1592003" y="2699850"/>
            <a:ext cx="5136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system</a:t>
            </a:r>
            <a:endParaRPr b="1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Concept</a:t>
            </a:r>
            <a:endParaRPr b="1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 txBox="1"/>
          <p:nvPr/>
        </p:nvSpPr>
        <p:spPr>
          <a:xfrm>
            <a:off x="394876" y="4640850"/>
            <a:ext cx="16482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sng" cap="none" strike="noStrike">
                <a:solidFill>
                  <a:srgbClr val="EC930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Initial Backlog and Roadmap</a:t>
            </a:r>
            <a:endParaRPr b="1" i="0" sz="800" u="none" cap="none" strike="noStrike">
              <a:solidFill>
                <a:srgbClr val="EC930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descr="Timeline background shape" id="249" name="Google Shape;249;p6"/>
          <p:cNvSpPr/>
          <p:nvPr/>
        </p:nvSpPr>
        <p:spPr>
          <a:xfrm>
            <a:off x="2630250" y="2708225"/>
            <a:ext cx="5321400" cy="457500"/>
          </a:xfrm>
          <a:prstGeom prst="homePlate">
            <a:avLst>
              <a:gd fmla="val 50000" name="adj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Design System 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descr="Timeline background shape" id="250" name="Google Shape;250;p6"/>
          <p:cNvSpPr/>
          <p:nvPr/>
        </p:nvSpPr>
        <p:spPr>
          <a:xfrm>
            <a:off x="1644525" y="3321725"/>
            <a:ext cx="6439800" cy="457500"/>
          </a:xfrm>
          <a:prstGeom prst="homePlate">
            <a:avLst>
              <a:gd fmla="val 50000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1650806" y="3313375"/>
            <a:ext cx="38661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Create Design for entire application step-by-step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(Iterative process for each step from CJM/ User Task in Backlog)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6"/>
          <p:cNvCxnSpPr/>
          <p:nvPr/>
        </p:nvCxnSpPr>
        <p:spPr>
          <a:xfrm rot="10800000">
            <a:off x="4603725" y="1701776"/>
            <a:ext cx="0" cy="9756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6"/>
          <p:cNvSpPr txBox="1"/>
          <p:nvPr/>
        </p:nvSpPr>
        <p:spPr>
          <a:xfrm>
            <a:off x="4598250" y="1703250"/>
            <a:ext cx="12315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External</a:t>
            </a:r>
            <a:endParaRPr b="1" i="0" sz="6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Usability Testing</a:t>
            </a:r>
            <a:endParaRPr b="1" i="0" sz="600" u="none" cap="none" strike="noStrike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4" name="Google Shape;254;p6"/>
          <p:cNvCxnSpPr/>
          <p:nvPr/>
        </p:nvCxnSpPr>
        <p:spPr>
          <a:xfrm rot="10800000">
            <a:off x="486237" y="1809176"/>
            <a:ext cx="0" cy="86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6"/>
          <p:cNvSpPr txBox="1"/>
          <p:nvPr/>
        </p:nvSpPr>
        <p:spPr>
          <a:xfrm>
            <a:off x="487069" y="1703262"/>
            <a:ext cx="6780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Kick Off</a:t>
            </a:r>
            <a:endParaRPr b="1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6" name="Google Shape;256;p6"/>
          <p:cNvCxnSpPr/>
          <p:nvPr/>
        </p:nvCxnSpPr>
        <p:spPr>
          <a:xfrm rot="10800000">
            <a:off x="7346475" y="1701776"/>
            <a:ext cx="0" cy="9756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6"/>
          <p:cNvSpPr txBox="1"/>
          <p:nvPr/>
        </p:nvSpPr>
        <p:spPr>
          <a:xfrm>
            <a:off x="7341000" y="1703250"/>
            <a:ext cx="12315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External</a:t>
            </a:r>
            <a:endParaRPr b="1" i="0" sz="6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Usability Testing</a:t>
            </a:r>
            <a:endParaRPr b="1" i="0" sz="600" u="none" cap="none" strike="noStrike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58" name="Google Shape;258;p6"/>
          <p:cNvGrpSpPr/>
          <p:nvPr/>
        </p:nvGrpSpPr>
        <p:grpSpPr>
          <a:xfrm>
            <a:off x="1342817" y="2052063"/>
            <a:ext cx="6626616" cy="441664"/>
            <a:chOff x="6448867" y="3733725"/>
            <a:chExt cx="2853840" cy="351308"/>
          </a:xfrm>
        </p:grpSpPr>
        <p:sp>
          <p:nvSpPr>
            <p:cNvPr id="259" name="Google Shape;259;p6"/>
            <p:cNvSpPr/>
            <p:nvPr/>
          </p:nvSpPr>
          <p:spPr>
            <a:xfrm>
              <a:off x="6448867" y="3733733"/>
              <a:ext cx="2169900" cy="351300"/>
            </a:xfrm>
            <a:prstGeom prst="homePlate">
              <a:avLst>
                <a:gd fmla="val 50000" name="adj"/>
              </a:avLst>
            </a:prstGeom>
            <a:solidFill>
              <a:srgbClr val="EC93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6"/>
            <p:cNvSpPr/>
            <p:nvPr/>
          </p:nvSpPr>
          <p:spPr>
            <a:xfrm>
              <a:off x="8499007" y="3733725"/>
              <a:ext cx="346500" cy="351300"/>
            </a:xfrm>
            <a:prstGeom prst="chevron">
              <a:avLst>
                <a:gd fmla="val 50000" name="adj"/>
              </a:avLst>
            </a:prstGeom>
            <a:solidFill>
              <a:srgbClr val="EC93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8727607" y="3733725"/>
              <a:ext cx="346500" cy="351300"/>
            </a:xfrm>
            <a:prstGeom prst="chevron">
              <a:avLst>
                <a:gd fmla="val 50000" name="adj"/>
              </a:avLst>
            </a:prstGeom>
            <a:solidFill>
              <a:srgbClr val="EC93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8956207" y="3733725"/>
              <a:ext cx="346500" cy="351300"/>
            </a:xfrm>
            <a:prstGeom prst="chevron">
              <a:avLst>
                <a:gd fmla="val 50000" name="adj"/>
              </a:avLst>
            </a:prstGeom>
            <a:solidFill>
              <a:srgbClr val="EC93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3" name="Google Shape;263;p6">
            <a:hlinkClick r:id="rId4"/>
          </p:cNvPr>
          <p:cNvSpPr txBox="1"/>
          <p:nvPr/>
        </p:nvSpPr>
        <p:spPr>
          <a:xfrm>
            <a:off x="2122925" y="2044775"/>
            <a:ext cx="40971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Design Phase Sprint-by-Sprint</a:t>
            </a:r>
            <a:endParaRPr b="1" i="0" sz="1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descr="Timeline background shape" id="264" name="Google Shape;264;p6"/>
          <p:cNvSpPr/>
          <p:nvPr/>
        </p:nvSpPr>
        <p:spPr>
          <a:xfrm>
            <a:off x="489150" y="2044625"/>
            <a:ext cx="853800" cy="457500"/>
          </a:xfrm>
          <a:prstGeom prst="homePlate">
            <a:avLst>
              <a:gd fmla="val 50000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700">
                <a:solidFill>
                  <a:schemeClr val="dk1"/>
                </a:solidFill>
              </a:rPr>
              <a:t>Preparation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700">
                <a:solidFill>
                  <a:schemeClr val="dk1"/>
                </a:solidFill>
              </a:rPr>
              <a:t>to Design Phase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7814610" y="2712324"/>
            <a:ext cx="495600" cy="441600"/>
          </a:xfrm>
          <a:prstGeom prst="chevron">
            <a:avLst>
              <a:gd fmla="val 50000" name="adj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9D2E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8182527" y="2712324"/>
            <a:ext cx="495600" cy="441600"/>
          </a:xfrm>
          <a:prstGeom prst="chevron">
            <a:avLst>
              <a:gd fmla="val 50000" name="adj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9D2E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imeline background shape" id="267" name="Google Shape;267;p6"/>
          <p:cNvSpPr/>
          <p:nvPr/>
        </p:nvSpPr>
        <p:spPr>
          <a:xfrm>
            <a:off x="491025" y="3338175"/>
            <a:ext cx="717300" cy="457500"/>
          </a:xfrm>
          <a:prstGeom prst="homePlate">
            <a:avLst>
              <a:gd fmla="val 5000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"/>
          <p:cNvSpPr txBox="1"/>
          <p:nvPr/>
        </p:nvSpPr>
        <p:spPr>
          <a:xfrm>
            <a:off x="491025" y="3338175"/>
            <a:ext cx="519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600">
                <a:solidFill>
                  <a:schemeClr val="dk1"/>
                </a:solidFill>
              </a:rPr>
              <a:t>Backlog in Jira</a:t>
            </a:r>
            <a:r>
              <a:rPr b="1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CJMs</a:t>
            </a:r>
            <a:endParaRPr b="1" i="0" sz="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descr="Timeline background shape" id="269" name="Google Shape;269;p6"/>
          <p:cNvSpPr/>
          <p:nvPr/>
        </p:nvSpPr>
        <p:spPr>
          <a:xfrm>
            <a:off x="1644525" y="3935225"/>
            <a:ext cx="2953800" cy="457500"/>
          </a:xfrm>
          <a:prstGeom prst="homePlate">
            <a:avLst>
              <a:gd fmla="val 50000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lt1"/>
                </a:solidFill>
              </a:rPr>
              <a:t>Design Spikes: Working on Wireframes &amp; Validation ideas with Users and Stakeholders to Cover CJM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descr="Timeline background shape" id="270" name="Google Shape;270;p6"/>
          <p:cNvSpPr/>
          <p:nvPr/>
        </p:nvSpPr>
        <p:spPr>
          <a:xfrm>
            <a:off x="4598250" y="3943975"/>
            <a:ext cx="3486000" cy="457500"/>
          </a:xfrm>
          <a:prstGeom prst="homePlate">
            <a:avLst>
              <a:gd fmla="val 50000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lt1"/>
                </a:solidFill>
              </a:rPr>
              <a:t>High Fidelity Design for Validated Prototypes</a:t>
            </a:r>
            <a:br>
              <a:rPr b="1" lang="en" sz="800">
                <a:solidFill>
                  <a:schemeClr val="lt1"/>
                </a:solidFill>
              </a:rPr>
            </a:br>
            <a:r>
              <a:rPr b="1" lang="en" sz="800">
                <a:solidFill>
                  <a:schemeClr val="lt1"/>
                </a:solidFill>
              </a:rPr>
              <a:t>from Wireframes</a:t>
            </a:r>
            <a:endParaRPr sz="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"/>
          <p:cNvSpPr/>
          <p:nvPr/>
        </p:nvSpPr>
        <p:spPr>
          <a:xfrm>
            <a:off x="0" y="0"/>
            <a:ext cx="4000500" cy="51435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7"/>
          <p:cNvPicPr preferRelativeResize="0"/>
          <p:nvPr/>
        </p:nvPicPr>
        <p:blipFill rotWithShape="1">
          <a:blip r:embed="rId3">
            <a:alphaModFix/>
          </a:blip>
          <a:srcRect b="2925" l="7382" r="38806" t="3894"/>
          <a:stretch/>
        </p:blipFill>
        <p:spPr>
          <a:xfrm>
            <a:off x="6572425" y="2571762"/>
            <a:ext cx="2577546" cy="257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7"/>
          <p:cNvPicPr preferRelativeResize="0"/>
          <p:nvPr/>
        </p:nvPicPr>
        <p:blipFill rotWithShape="1">
          <a:blip r:embed="rId4">
            <a:alphaModFix/>
          </a:blip>
          <a:srcRect b="0" l="0" r="42726" t="0"/>
          <a:stretch/>
        </p:blipFill>
        <p:spPr>
          <a:xfrm>
            <a:off x="4014000" y="2514300"/>
            <a:ext cx="2540775" cy="25719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8" name="Google Shape;278;p7"/>
          <p:cNvGrpSpPr/>
          <p:nvPr/>
        </p:nvGrpSpPr>
        <p:grpSpPr>
          <a:xfrm>
            <a:off x="0" y="-6656"/>
            <a:ext cx="9144000" cy="5150150"/>
            <a:chOff x="0" y="-6656"/>
            <a:chExt cx="9144000" cy="5150150"/>
          </a:xfrm>
        </p:grpSpPr>
        <p:sp>
          <p:nvSpPr>
            <p:cNvPr id="279" name="Google Shape;279;p7"/>
            <p:cNvSpPr/>
            <p:nvPr/>
          </p:nvSpPr>
          <p:spPr>
            <a:xfrm>
              <a:off x="86787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7"/>
            <p:cNvSpPr/>
            <p:nvPr/>
          </p:nvSpPr>
          <p:spPr>
            <a:xfrm>
              <a:off x="82134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7"/>
            <p:cNvSpPr/>
            <p:nvPr/>
          </p:nvSpPr>
          <p:spPr>
            <a:xfrm>
              <a:off x="35352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7"/>
            <p:cNvSpPr/>
            <p:nvPr/>
          </p:nvSpPr>
          <p:spPr>
            <a:xfrm>
              <a:off x="35352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7"/>
            <p:cNvSpPr/>
            <p:nvPr/>
          </p:nvSpPr>
          <p:spPr>
            <a:xfrm>
              <a:off x="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0" y="18545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7"/>
            <p:cNvSpPr/>
            <p:nvPr/>
          </p:nvSpPr>
          <p:spPr>
            <a:xfrm>
              <a:off x="0" y="27655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7"/>
            <p:cNvSpPr/>
            <p:nvPr/>
          </p:nvSpPr>
          <p:spPr>
            <a:xfrm>
              <a:off x="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7"/>
            <p:cNvSpPr/>
            <p:nvPr/>
          </p:nvSpPr>
          <p:spPr>
            <a:xfrm>
              <a:off x="0" y="9239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7"/>
            <p:cNvSpPr/>
            <p:nvPr/>
          </p:nvSpPr>
          <p:spPr>
            <a:xfrm>
              <a:off x="0" y="3227200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7"/>
            <p:cNvSpPr/>
            <p:nvPr/>
          </p:nvSpPr>
          <p:spPr>
            <a:xfrm>
              <a:off x="0" y="3686603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7"/>
            <p:cNvSpPr/>
            <p:nvPr/>
          </p:nvSpPr>
          <p:spPr>
            <a:xfrm>
              <a:off x="86787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1" name="Google Shape;291;p7"/>
          <p:cNvSpPr txBox="1"/>
          <p:nvPr>
            <p:ph type="title"/>
          </p:nvPr>
        </p:nvSpPr>
        <p:spPr>
          <a:xfrm>
            <a:off x="406469" y="687037"/>
            <a:ext cx="36759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Lean + Agile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" sz="3000">
                <a:solidFill>
                  <a:srgbClr val="EC9301"/>
                </a:solidFill>
                <a:latin typeface="Montserrat"/>
                <a:ea typeface="Montserrat"/>
                <a:cs typeface="Montserrat"/>
                <a:sym typeface="Montserrat"/>
              </a:rPr>
              <a:t>CJM &amp; Backlog</a:t>
            </a:r>
            <a:endParaRPr b="1" sz="3000">
              <a:solidFill>
                <a:srgbClr val="EC930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p7"/>
          <p:cNvSpPr txBox="1"/>
          <p:nvPr/>
        </p:nvSpPr>
        <p:spPr>
          <a:xfrm>
            <a:off x="406475" y="1809910"/>
            <a:ext cx="3240000" cy="3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customer journey map is a process the customer follows or workflow steps looking for improvements in the overall experience. The journey map typically reflects several user stories. </a:t>
            </a:r>
            <a:r>
              <a:rPr b="1" i="0" lang="en" sz="800" u="sng" cap="none" strike="noStrike">
                <a:solidFill>
                  <a:srgbClr val="EC930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Video: Customer Journey in Agile</a:t>
            </a: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Epics (Customer Journey from Our Discovery)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agile epic is a body of work that can be broken down into specific tasks (called user stories) based on the needs/requests of customers or end-users.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Story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stories are one of the core components of an agile program. They help provide a user-focused framework for daily work — which drives collaboration, creativity, and a better product overall.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sng" cap="none" strike="noStrike">
                <a:solidFill>
                  <a:srgbClr val="EC930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More Information about Backlog and User Stories.</a:t>
            </a:r>
            <a:endParaRPr b="0" i="0" sz="800" u="none" cap="none" strike="noStrike">
              <a:solidFill>
                <a:srgbClr val="EC93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 txBox="1"/>
          <p:nvPr/>
        </p:nvSpPr>
        <p:spPr>
          <a:xfrm>
            <a:off x="4014000" y="3942925"/>
            <a:ext cx="2427600" cy="1203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49803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Backlog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"/>
          <p:cNvSpPr txBox="1"/>
          <p:nvPr/>
        </p:nvSpPr>
        <p:spPr>
          <a:xfrm>
            <a:off x="6568275" y="4802284"/>
            <a:ext cx="2427600" cy="33810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1200000" dist="9525">
              <a:schemeClr val="lt1"/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Scrum Board</a:t>
            </a:r>
            <a:endParaRPr b="1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404523" y="336561"/>
            <a:ext cx="336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700" u="none" cap="none" strike="noStrike">
                <a:solidFill>
                  <a:srgbClr val="9E9E9E"/>
                </a:solidFill>
                <a:latin typeface="Montserrat"/>
                <a:ea typeface="Montserrat"/>
                <a:cs typeface="Montserrat"/>
                <a:sym typeface="Montserrat"/>
              </a:rPr>
              <a:t>DESIGN STRATEGY</a:t>
            </a:r>
            <a:r>
              <a:rPr b="1" i="0" lang="en" sz="7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AGILE &amp; DESIGN PROCESS</a:t>
            </a:r>
            <a:endParaRPr b="1" i="0" sz="700" u="none" cap="none" strike="noStrike">
              <a:solidFill>
                <a:srgbClr val="9E9E9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6" name="Google Shape;296;p7"/>
          <p:cNvPicPr preferRelativeResize="0"/>
          <p:nvPr/>
        </p:nvPicPr>
        <p:blipFill rotWithShape="1">
          <a:blip r:embed="rId7">
            <a:alphaModFix/>
          </a:blip>
          <a:srcRect b="2108" l="1409" r="742" t="2060"/>
          <a:stretch/>
        </p:blipFill>
        <p:spPr>
          <a:xfrm>
            <a:off x="4486050" y="169125"/>
            <a:ext cx="4291926" cy="21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8"/>
          <p:cNvSpPr/>
          <p:nvPr/>
        </p:nvSpPr>
        <p:spPr>
          <a:xfrm>
            <a:off x="0" y="0"/>
            <a:ext cx="4000500" cy="51435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2" name="Google Shape;302;p8"/>
          <p:cNvGrpSpPr/>
          <p:nvPr/>
        </p:nvGrpSpPr>
        <p:grpSpPr>
          <a:xfrm>
            <a:off x="0" y="-6656"/>
            <a:ext cx="9144000" cy="5150150"/>
            <a:chOff x="0" y="-6656"/>
            <a:chExt cx="9144000" cy="5150150"/>
          </a:xfrm>
        </p:grpSpPr>
        <p:sp>
          <p:nvSpPr>
            <p:cNvPr id="303" name="Google Shape;303;p8"/>
            <p:cNvSpPr/>
            <p:nvPr/>
          </p:nvSpPr>
          <p:spPr>
            <a:xfrm>
              <a:off x="86787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8"/>
            <p:cNvSpPr/>
            <p:nvPr/>
          </p:nvSpPr>
          <p:spPr>
            <a:xfrm>
              <a:off x="82134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35352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35352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0" y="18545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0" y="27655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8"/>
            <p:cNvSpPr/>
            <p:nvPr/>
          </p:nvSpPr>
          <p:spPr>
            <a:xfrm>
              <a:off x="0" y="9239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0" y="3227200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8"/>
            <p:cNvSpPr/>
            <p:nvPr/>
          </p:nvSpPr>
          <p:spPr>
            <a:xfrm>
              <a:off x="0" y="3686603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86787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5" name="Google Shape;315;p8"/>
          <p:cNvSpPr txBox="1"/>
          <p:nvPr>
            <p:ph type="title"/>
          </p:nvPr>
        </p:nvSpPr>
        <p:spPr>
          <a:xfrm>
            <a:off x="406469" y="687037"/>
            <a:ext cx="36759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User Story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" sz="3000">
                <a:solidFill>
                  <a:srgbClr val="EC9301"/>
                </a:solidFill>
                <a:latin typeface="Montserrat"/>
                <a:ea typeface="Montserrat"/>
                <a:cs typeface="Montserrat"/>
                <a:sym typeface="Montserrat"/>
              </a:rPr>
              <a:t>Template</a:t>
            </a:r>
            <a:endParaRPr b="1" sz="3000">
              <a:solidFill>
                <a:srgbClr val="EC930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8"/>
          <p:cNvSpPr txBox="1"/>
          <p:nvPr/>
        </p:nvSpPr>
        <p:spPr>
          <a:xfrm>
            <a:off x="406475" y="1809900"/>
            <a:ext cx="3368400" cy="3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Story for Design</a:t>
            </a: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it is design requirement at the beginning and after design process with design prototype, and status </a:t>
            </a: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“Ready for Dev”</a:t>
            </a: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Story for Development</a:t>
            </a: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it is development requirement with prototype from the design story that was done.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Template for Design Story: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AutoNum type="arabicPeriod"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AutoNum type="arabicPeriod"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Acceptance Criteria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AutoNum type="arabicPeriod"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Requestor (Users, Costumes, Stakeholders)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AutoNum type="arabicPeriod"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Attachments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AutoNum type="arabicPeriod"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Priority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AutoNum type="arabicPeriod"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for Figma prototype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AutoNum type="arabicPeriod"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Comments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sng" cap="none" strike="noStrike">
                <a:solidFill>
                  <a:srgbClr val="EC930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integrate Figma into Jira</a:t>
            </a:r>
            <a:endParaRPr b="0" i="0" sz="800" u="none" cap="none" strike="noStrike">
              <a:solidFill>
                <a:srgbClr val="EC93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8"/>
          <p:cNvSpPr txBox="1"/>
          <p:nvPr/>
        </p:nvSpPr>
        <p:spPr>
          <a:xfrm>
            <a:off x="404523" y="336561"/>
            <a:ext cx="336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700" u="none" cap="none" strike="noStrike">
                <a:solidFill>
                  <a:srgbClr val="9E9E9E"/>
                </a:solidFill>
                <a:latin typeface="Montserrat"/>
                <a:ea typeface="Montserrat"/>
                <a:cs typeface="Montserrat"/>
                <a:sym typeface="Montserrat"/>
              </a:rPr>
              <a:t>DESIGN STRATEGY</a:t>
            </a:r>
            <a:r>
              <a:rPr b="1" i="0" lang="en" sz="7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AGILE &amp; DESIGN PROCESS</a:t>
            </a:r>
            <a:endParaRPr b="1" i="0" sz="700" u="none" cap="none" strike="noStrike">
              <a:solidFill>
                <a:srgbClr val="9E9E9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8" name="Google Shape;318;p8"/>
          <p:cNvPicPr preferRelativeResize="0"/>
          <p:nvPr/>
        </p:nvPicPr>
        <p:blipFill rotWithShape="1">
          <a:blip r:embed="rId4">
            <a:alphaModFix/>
          </a:blip>
          <a:srcRect b="36269" l="8489" r="36526" t="18016"/>
          <a:stretch/>
        </p:blipFill>
        <p:spPr>
          <a:xfrm>
            <a:off x="4109675" y="127650"/>
            <a:ext cx="4893051" cy="226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8"/>
          <p:cNvPicPr preferRelativeResize="0"/>
          <p:nvPr/>
        </p:nvPicPr>
        <p:blipFill rotWithShape="1">
          <a:blip r:embed="rId5">
            <a:alphaModFix/>
          </a:blip>
          <a:srcRect b="13038" l="11447" r="13291" t="13377"/>
          <a:stretch/>
        </p:blipFill>
        <p:spPr>
          <a:xfrm>
            <a:off x="4000500" y="2790845"/>
            <a:ext cx="3368402" cy="2352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8"/>
          <p:cNvPicPr preferRelativeResize="0"/>
          <p:nvPr/>
        </p:nvPicPr>
        <p:blipFill rotWithShape="1">
          <a:blip r:embed="rId6">
            <a:alphaModFix/>
          </a:blip>
          <a:srcRect b="4360" l="10706" r="37747" t="4004"/>
          <a:stretch/>
        </p:blipFill>
        <p:spPr>
          <a:xfrm>
            <a:off x="7288225" y="2786875"/>
            <a:ext cx="1855775" cy="235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9"/>
          <p:cNvSpPr/>
          <p:nvPr/>
        </p:nvSpPr>
        <p:spPr>
          <a:xfrm>
            <a:off x="0" y="0"/>
            <a:ext cx="4000500" cy="51435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6" name="Google Shape;326;p9"/>
          <p:cNvGrpSpPr/>
          <p:nvPr/>
        </p:nvGrpSpPr>
        <p:grpSpPr>
          <a:xfrm>
            <a:off x="0" y="-6656"/>
            <a:ext cx="9144000" cy="5150150"/>
            <a:chOff x="0" y="-6656"/>
            <a:chExt cx="9144000" cy="5150150"/>
          </a:xfrm>
        </p:grpSpPr>
        <p:sp>
          <p:nvSpPr>
            <p:cNvPr id="327" name="Google Shape;327;p9"/>
            <p:cNvSpPr/>
            <p:nvPr/>
          </p:nvSpPr>
          <p:spPr>
            <a:xfrm>
              <a:off x="86787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82134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35352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35352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0" y="18545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0" y="27655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0" y="9239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9"/>
            <p:cNvSpPr/>
            <p:nvPr/>
          </p:nvSpPr>
          <p:spPr>
            <a:xfrm>
              <a:off x="0" y="3227200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9"/>
            <p:cNvSpPr/>
            <p:nvPr/>
          </p:nvSpPr>
          <p:spPr>
            <a:xfrm>
              <a:off x="0" y="3686603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9"/>
            <p:cNvSpPr/>
            <p:nvPr/>
          </p:nvSpPr>
          <p:spPr>
            <a:xfrm>
              <a:off x="86787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39" name="Google Shape;3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0" y="1425746"/>
            <a:ext cx="5143499" cy="23961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0" name="Google Shape;340;p9"/>
          <p:cNvCxnSpPr/>
          <p:nvPr/>
        </p:nvCxnSpPr>
        <p:spPr>
          <a:xfrm rot="10800000">
            <a:off x="8891350" y="1599075"/>
            <a:ext cx="0" cy="1435800"/>
          </a:xfrm>
          <a:prstGeom prst="straightConnector1">
            <a:avLst/>
          </a:prstGeom>
          <a:noFill/>
          <a:ln cap="flat" cmpd="sng" w="952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9"/>
          <p:cNvSpPr txBox="1"/>
          <p:nvPr/>
        </p:nvSpPr>
        <p:spPr>
          <a:xfrm>
            <a:off x="8022247" y="1599100"/>
            <a:ext cx="86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External</a:t>
            </a:r>
            <a:endParaRPr b="1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Usability Testing</a:t>
            </a:r>
            <a:endParaRPr b="1" i="0" sz="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9"/>
          <p:cNvSpPr txBox="1"/>
          <p:nvPr>
            <p:ph type="title"/>
          </p:nvPr>
        </p:nvSpPr>
        <p:spPr>
          <a:xfrm>
            <a:off x="406469" y="687037"/>
            <a:ext cx="36759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Lean + Agile </a:t>
            </a:r>
            <a:r>
              <a:rPr b="1" lang="en" sz="3000">
                <a:solidFill>
                  <a:srgbClr val="EC9301"/>
                </a:solidFill>
                <a:latin typeface="Montserrat"/>
                <a:ea typeface="Montserrat"/>
                <a:cs typeface="Montserrat"/>
                <a:sym typeface="Montserrat"/>
              </a:rPr>
              <a:t>Ceremonies</a:t>
            </a:r>
            <a:endParaRPr b="1" sz="3000">
              <a:solidFill>
                <a:srgbClr val="EC930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9"/>
          <p:cNvSpPr txBox="1"/>
          <p:nvPr/>
        </p:nvSpPr>
        <p:spPr>
          <a:xfrm>
            <a:off x="406475" y="1809910"/>
            <a:ext cx="3240000" cy="3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Planning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team planning meeting that determines what to complete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coming 2 weeks sprint.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Demo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sharing meeting where the team shows what they've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Shipped in that sprint.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Daily Standup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 known as a stand-up, a 15-minute mini-meeting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the software team to sync.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Retrospective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review of what did and didn't go well with actions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make the next sprint better. </a:t>
            </a:r>
            <a:r>
              <a:rPr b="0" i="0" lang="en" sz="800" u="sng" cap="none" strike="noStrike">
                <a:solidFill>
                  <a:srgbClr val="EC930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More Information with details</a:t>
            </a:r>
            <a:r>
              <a:rPr b="0" i="0" lang="en" sz="800" u="none" cap="none" strike="noStrike">
                <a:solidFill>
                  <a:srgbClr val="EC930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800" u="none" cap="none" strike="noStrike">
              <a:solidFill>
                <a:srgbClr val="EC930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9"/>
          <p:cNvSpPr txBox="1"/>
          <p:nvPr/>
        </p:nvSpPr>
        <p:spPr>
          <a:xfrm>
            <a:off x="404523" y="336561"/>
            <a:ext cx="336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700" u="none" cap="none" strike="noStrike">
                <a:solidFill>
                  <a:srgbClr val="9E9E9E"/>
                </a:solidFill>
                <a:latin typeface="Montserrat"/>
                <a:ea typeface="Montserrat"/>
                <a:cs typeface="Montserrat"/>
                <a:sym typeface="Montserrat"/>
              </a:rPr>
              <a:t>DESIGN STRATEGY</a:t>
            </a:r>
            <a:r>
              <a:rPr b="1" i="0" lang="en" sz="7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AGILE &amp; DESIGN PROCESS</a:t>
            </a:r>
            <a:endParaRPr b="1" i="0" sz="700" u="none" cap="none" strike="noStrike">
              <a:solidFill>
                <a:srgbClr val="9E9E9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5" name="Google Shape;345;p9"/>
          <p:cNvCxnSpPr/>
          <p:nvPr/>
        </p:nvCxnSpPr>
        <p:spPr>
          <a:xfrm rot="10800000">
            <a:off x="5744896" y="1599075"/>
            <a:ext cx="0" cy="1435800"/>
          </a:xfrm>
          <a:prstGeom prst="straightConnector1">
            <a:avLst/>
          </a:prstGeom>
          <a:noFill/>
          <a:ln cap="flat" cmpd="sng" w="952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9"/>
          <p:cNvSpPr txBox="1"/>
          <p:nvPr/>
        </p:nvSpPr>
        <p:spPr>
          <a:xfrm>
            <a:off x="4875793" y="1599100"/>
            <a:ext cx="86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External</a:t>
            </a:r>
            <a:endParaRPr b="1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Usability Testing</a:t>
            </a:r>
            <a:endParaRPr b="1" i="0" sz="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9"/>
          <p:cNvSpPr txBox="1"/>
          <p:nvPr/>
        </p:nvSpPr>
        <p:spPr>
          <a:xfrm>
            <a:off x="4546750" y="2639968"/>
            <a:ext cx="65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FA8DC"/>
                </a:solidFill>
                <a:latin typeface="Arial"/>
                <a:ea typeface="Arial"/>
                <a:cs typeface="Arial"/>
                <a:sym typeface="Arial"/>
              </a:rPr>
              <a:t>2 Weeks</a:t>
            </a:r>
            <a:endParaRPr b="1" i="0" sz="800" u="none" cap="none" strike="noStrike">
              <a:solidFill>
                <a:srgbClr val="6FA8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p9"/>
          <p:cNvSpPr txBox="1"/>
          <p:nvPr/>
        </p:nvSpPr>
        <p:spPr>
          <a:xfrm>
            <a:off x="6158500" y="2639968"/>
            <a:ext cx="65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FA8DC"/>
                </a:solidFill>
                <a:latin typeface="Arial"/>
                <a:ea typeface="Arial"/>
                <a:cs typeface="Arial"/>
                <a:sym typeface="Arial"/>
              </a:rPr>
              <a:t>2 Weeks</a:t>
            </a:r>
            <a:endParaRPr b="1" i="0" sz="800" u="none" cap="none" strike="noStrike">
              <a:solidFill>
                <a:srgbClr val="6FA8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9"/>
          <p:cNvSpPr txBox="1"/>
          <p:nvPr/>
        </p:nvSpPr>
        <p:spPr>
          <a:xfrm>
            <a:off x="7776671" y="2639968"/>
            <a:ext cx="65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FA8DC"/>
                </a:solidFill>
                <a:latin typeface="Arial"/>
                <a:ea typeface="Arial"/>
                <a:cs typeface="Arial"/>
                <a:sym typeface="Arial"/>
              </a:rPr>
              <a:t>2 Weeks</a:t>
            </a:r>
            <a:endParaRPr b="1" i="0" sz="800" u="none" cap="none" strike="noStrike">
              <a:solidFill>
                <a:srgbClr val="6FA8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9"/>
          <p:cNvSpPr txBox="1"/>
          <p:nvPr/>
        </p:nvSpPr>
        <p:spPr>
          <a:xfrm>
            <a:off x="5240250" y="3147225"/>
            <a:ext cx="65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D85C6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b="1" i="0" sz="800" u="none" cap="none" strike="noStrike">
              <a:solidFill>
                <a:srgbClr val="3D85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9"/>
          <p:cNvSpPr txBox="1"/>
          <p:nvPr/>
        </p:nvSpPr>
        <p:spPr>
          <a:xfrm>
            <a:off x="6851997" y="3147225"/>
            <a:ext cx="65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D85C6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b="1" i="0" sz="800" u="none" cap="none" strike="noStrike">
              <a:solidFill>
                <a:srgbClr val="3D85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9"/>
          <p:cNvSpPr txBox="1"/>
          <p:nvPr/>
        </p:nvSpPr>
        <p:spPr>
          <a:xfrm>
            <a:off x="8460679" y="3147225"/>
            <a:ext cx="65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3D85C6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b="1" i="0" sz="800" u="none" cap="none" strike="noStrike">
              <a:solidFill>
                <a:srgbClr val="3D85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p10"/>
          <p:cNvGrpSpPr/>
          <p:nvPr/>
        </p:nvGrpSpPr>
        <p:grpSpPr>
          <a:xfrm>
            <a:off x="0" y="-6656"/>
            <a:ext cx="9144000" cy="5150150"/>
            <a:chOff x="0" y="-6656"/>
            <a:chExt cx="9144000" cy="5150150"/>
          </a:xfrm>
        </p:grpSpPr>
        <p:sp>
          <p:nvSpPr>
            <p:cNvPr id="358" name="Google Shape;358;p10"/>
            <p:cNvSpPr/>
            <p:nvPr/>
          </p:nvSpPr>
          <p:spPr>
            <a:xfrm>
              <a:off x="86787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0"/>
            <p:cNvSpPr/>
            <p:nvPr/>
          </p:nvSpPr>
          <p:spPr>
            <a:xfrm>
              <a:off x="82134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0"/>
            <p:cNvSpPr/>
            <p:nvPr/>
          </p:nvSpPr>
          <p:spPr>
            <a:xfrm>
              <a:off x="35352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0"/>
            <p:cNvSpPr/>
            <p:nvPr/>
          </p:nvSpPr>
          <p:spPr>
            <a:xfrm>
              <a:off x="35352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0"/>
            <p:cNvSpPr/>
            <p:nvPr/>
          </p:nvSpPr>
          <p:spPr>
            <a:xfrm>
              <a:off x="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0"/>
            <p:cNvSpPr/>
            <p:nvPr/>
          </p:nvSpPr>
          <p:spPr>
            <a:xfrm>
              <a:off x="0" y="18545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0"/>
            <p:cNvSpPr/>
            <p:nvPr/>
          </p:nvSpPr>
          <p:spPr>
            <a:xfrm>
              <a:off x="0" y="27655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0"/>
            <p:cNvSpPr/>
            <p:nvPr/>
          </p:nvSpPr>
          <p:spPr>
            <a:xfrm>
              <a:off x="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0"/>
            <p:cNvSpPr/>
            <p:nvPr/>
          </p:nvSpPr>
          <p:spPr>
            <a:xfrm>
              <a:off x="0" y="9239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0"/>
            <p:cNvSpPr/>
            <p:nvPr/>
          </p:nvSpPr>
          <p:spPr>
            <a:xfrm>
              <a:off x="0" y="3227200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0"/>
            <p:cNvSpPr/>
            <p:nvPr/>
          </p:nvSpPr>
          <p:spPr>
            <a:xfrm>
              <a:off x="0" y="3686603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0"/>
            <p:cNvSpPr/>
            <p:nvPr/>
          </p:nvSpPr>
          <p:spPr>
            <a:xfrm>
              <a:off x="86787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0" name="Google Shape;370;p10"/>
          <p:cNvSpPr txBox="1"/>
          <p:nvPr/>
        </p:nvSpPr>
        <p:spPr>
          <a:xfrm>
            <a:off x="439756" y="337150"/>
            <a:ext cx="2242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700" u="none" cap="none" strike="noStrike">
                <a:solidFill>
                  <a:srgbClr val="9E9E9E"/>
                </a:solidFill>
                <a:latin typeface="Montserrat"/>
                <a:ea typeface="Montserrat"/>
                <a:cs typeface="Montserrat"/>
                <a:sym typeface="Montserrat"/>
              </a:rPr>
              <a:t>DESIGN STRATEGY</a:t>
            </a:r>
            <a:r>
              <a:rPr b="1" i="0" lang="en" sz="7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AGILE &amp; DESIGN PROCESS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9E9E9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10"/>
          <p:cNvSpPr txBox="1"/>
          <p:nvPr>
            <p:ph idx="4294967295" type="ctrTitle"/>
          </p:nvPr>
        </p:nvSpPr>
        <p:spPr>
          <a:xfrm>
            <a:off x="406475" y="641950"/>
            <a:ext cx="66651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" sz="3000" u="none" cap="none" strike="noStrike">
                <a:solidFill>
                  <a:srgbClr val="EC9301"/>
                </a:solidFill>
                <a:latin typeface="Montserrat"/>
                <a:ea typeface="Montserrat"/>
                <a:cs typeface="Montserrat"/>
                <a:sym typeface="Montserrat"/>
              </a:rPr>
              <a:t>Design </a:t>
            </a:r>
            <a:r>
              <a:rPr b="1" i="0" lang="en" sz="3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Story Flow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p10"/>
          <p:cNvSpPr txBox="1"/>
          <p:nvPr/>
        </p:nvSpPr>
        <p:spPr>
          <a:xfrm>
            <a:off x="406475" y="2094750"/>
            <a:ext cx="31341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main outcome of this document - provide a Strategy for a solid foundation for further development and growth for ToolsGroup product.</a:t>
            </a:r>
            <a:endParaRPr b="0" i="0" sz="10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All suggestions come out from the deep analysis of the requirements and current set up within ToolsGroup products and are chosen to best-fit the ToolsGroup short-term and long-term goals.</a:t>
            </a:r>
            <a:endParaRPr b="0" i="0" sz="10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73" name="Google Shape;3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21597"/>
            <a:ext cx="9144003" cy="3821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339711b92e_2_129"/>
          <p:cNvSpPr/>
          <p:nvPr/>
        </p:nvSpPr>
        <p:spPr>
          <a:xfrm>
            <a:off x="6584925" y="2591850"/>
            <a:ext cx="2577600" cy="2571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9" name="Google Shape;379;g1339711b92e_2_129"/>
          <p:cNvPicPr preferRelativeResize="0"/>
          <p:nvPr/>
        </p:nvPicPr>
        <p:blipFill rotWithShape="1">
          <a:blip r:embed="rId3">
            <a:alphaModFix/>
          </a:blip>
          <a:srcRect b="931" l="0" r="1429" t="0"/>
          <a:stretch/>
        </p:blipFill>
        <p:spPr>
          <a:xfrm>
            <a:off x="4013375" y="2586725"/>
            <a:ext cx="2540775" cy="2553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g1339711b92e_2_129"/>
          <p:cNvSpPr txBox="1"/>
          <p:nvPr/>
        </p:nvSpPr>
        <p:spPr>
          <a:xfrm>
            <a:off x="4082375" y="3943075"/>
            <a:ext cx="2427600" cy="1203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Olena Korolova</a:t>
            </a:r>
            <a:endParaRPr b="1" i="0" sz="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rgbClr val="EC9301"/>
                </a:solidFill>
                <a:latin typeface="Montserrat"/>
                <a:ea typeface="Montserrat"/>
                <a:cs typeface="Montserrat"/>
                <a:sym typeface="Montserrat"/>
              </a:rPr>
              <a:t>Senior UI/UX Designer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" name="Google Shape;381;g1339711b92e_2_129"/>
          <p:cNvPicPr preferRelativeResize="0"/>
          <p:nvPr/>
        </p:nvPicPr>
        <p:blipFill rotWithShape="1">
          <a:blip r:embed="rId4">
            <a:alphaModFix/>
          </a:blip>
          <a:srcRect b="18453" l="9023" r="6094" t="0"/>
          <a:stretch/>
        </p:blipFill>
        <p:spPr>
          <a:xfrm>
            <a:off x="4014000" y="-6000"/>
            <a:ext cx="2540775" cy="25719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2" name="Google Shape;382;g1339711b92e_2_129"/>
          <p:cNvGrpSpPr/>
          <p:nvPr/>
        </p:nvGrpSpPr>
        <p:grpSpPr>
          <a:xfrm>
            <a:off x="0" y="-6656"/>
            <a:ext cx="9144000" cy="5150150"/>
            <a:chOff x="0" y="-6656"/>
            <a:chExt cx="9144000" cy="5150150"/>
          </a:xfrm>
        </p:grpSpPr>
        <p:sp>
          <p:nvSpPr>
            <p:cNvPr id="383" name="Google Shape;383;g1339711b92e_2_129"/>
            <p:cNvSpPr/>
            <p:nvPr/>
          </p:nvSpPr>
          <p:spPr>
            <a:xfrm>
              <a:off x="86787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g1339711b92e_2_129"/>
            <p:cNvSpPr/>
            <p:nvPr/>
          </p:nvSpPr>
          <p:spPr>
            <a:xfrm>
              <a:off x="82134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g1339711b92e_2_129"/>
            <p:cNvSpPr/>
            <p:nvPr/>
          </p:nvSpPr>
          <p:spPr>
            <a:xfrm>
              <a:off x="35352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g1339711b92e_2_129"/>
            <p:cNvSpPr/>
            <p:nvPr/>
          </p:nvSpPr>
          <p:spPr>
            <a:xfrm>
              <a:off x="35352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g1339711b92e_2_129"/>
            <p:cNvSpPr/>
            <p:nvPr/>
          </p:nvSpPr>
          <p:spPr>
            <a:xfrm>
              <a:off x="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1339711b92e_2_129"/>
            <p:cNvSpPr/>
            <p:nvPr/>
          </p:nvSpPr>
          <p:spPr>
            <a:xfrm>
              <a:off x="0" y="18545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g1339711b92e_2_129"/>
            <p:cNvSpPr/>
            <p:nvPr/>
          </p:nvSpPr>
          <p:spPr>
            <a:xfrm>
              <a:off x="0" y="27655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g1339711b92e_2_129"/>
            <p:cNvSpPr/>
            <p:nvPr/>
          </p:nvSpPr>
          <p:spPr>
            <a:xfrm>
              <a:off x="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g1339711b92e_2_129"/>
            <p:cNvSpPr/>
            <p:nvPr/>
          </p:nvSpPr>
          <p:spPr>
            <a:xfrm>
              <a:off x="0" y="9239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g1339711b92e_2_129"/>
            <p:cNvSpPr/>
            <p:nvPr/>
          </p:nvSpPr>
          <p:spPr>
            <a:xfrm>
              <a:off x="0" y="3227200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g1339711b92e_2_129"/>
            <p:cNvSpPr/>
            <p:nvPr/>
          </p:nvSpPr>
          <p:spPr>
            <a:xfrm>
              <a:off x="0" y="3686603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g1339711b92e_2_129"/>
            <p:cNvSpPr/>
            <p:nvPr/>
          </p:nvSpPr>
          <p:spPr>
            <a:xfrm>
              <a:off x="86787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5" name="Google Shape;395;g1339711b92e_2_129"/>
          <p:cNvSpPr/>
          <p:nvPr/>
        </p:nvSpPr>
        <p:spPr>
          <a:xfrm>
            <a:off x="0" y="-3325"/>
            <a:ext cx="4008000" cy="5143500"/>
          </a:xfrm>
          <a:prstGeom prst="rect">
            <a:avLst/>
          </a:prstGeom>
          <a:solidFill>
            <a:srgbClr val="F7F3FF"/>
          </a:solidFill>
          <a:ln>
            <a:noFill/>
          </a:ln>
          <a:effectLst>
            <a:outerShdw blurRad="200025" rotWithShape="0" algn="bl" dir="5400000" dist="5715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1339711b92e_2_129"/>
          <p:cNvSpPr txBox="1"/>
          <p:nvPr>
            <p:ph type="title"/>
          </p:nvPr>
        </p:nvSpPr>
        <p:spPr>
          <a:xfrm>
            <a:off x="406469" y="687037"/>
            <a:ext cx="3675900" cy="1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The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" sz="3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b="1" sz="30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g1339711b92e_2_129"/>
          <p:cNvSpPr txBox="1"/>
          <p:nvPr/>
        </p:nvSpPr>
        <p:spPr>
          <a:xfrm>
            <a:off x="406475" y="1849800"/>
            <a:ext cx="3240000" cy="29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</a:rPr>
              <a:t>Lead UI/UX (75%)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Working with the business to understand what it needs from the design team; Responsible for the Quality, Design Review, Facilitating Workshops, Usability Testing.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</a:rPr>
              <a:t>Project Manager (part-time, ±20-25%)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Responsible for planning, Burndown plan, SDLS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</a:rPr>
              <a:t>Senior Designer (full-time, 100%)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Responsible for collecting and translating business and user requirements for MVP features into clickable prototype.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</a:rPr>
              <a:t>Middle Designer (full-time, 100%)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Translating requirements into style guides, design system components, design patterns and attractive user interfaces.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Working on Mobile Application Part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chemeClr val="dk1"/>
              </a:solidFill>
            </a:endParaRPr>
          </a:p>
        </p:txBody>
      </p:sp>
      <p:sp>
        <p:nvSpPr>
          <p:cNvPr id="398" name="Google Shape;398;g1339711b92e_2_129"/>
          <p:cNvSpPr txBox="1"/>
          <p:nvPr/>
        </p:nvSpPr>
        <p:spPr>
          <a:xfrm>
            <a:off x="4082375" y="1365175"/>
            <a:ext cx="24276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Alexey Tsesliuk</a:t>
            </a:r>
            <a:endParaRPr b="1" i="0" sz="800" u="none" cap="none" strike="noStrike">
              <a:solidFill>
                <a:srgbClr val="EC930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" u="none" cap="none" strike="noStrike">
                <a:solidFill>
                  <a:srgbClr val="EC9301"/>
                </a:solidFill>
                <a:latin typeface="Montserrat"/>
                <a:ea typeface="Montserrat"/>
                <a:cs typeface="Montserrat"/>
                <a:sym typeface="Montserrat"/>
              </a:rPr>
              <a:t>Lead UI/UX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9" name="Google Shape;399;g1339711b92e_2_129"/>
          <p:cNvGrpSpPr/>
          <p:nvPr/>
        </p:nvGrpSpPr>
        <p:grpSpPr>
          <a:xfrm>
            <a:off x="0" y="-6656"/>
            <a:ext cx="4000500" cy="5150150"/>
            <a:chOff x="0" y="-6656"/>
            <a:chExt cx="4000500" cy="5150150"/>
          </a:xfrm>
        </p:grpSpPr>
        <p:sp>
          <p:nvSpPr>
            <p:cNvPr id="400" name="Google Shape;400;g1339711b92e_2_129"/>
            <p:cNvSpPr/>
            <p:nvPr/>
          </p:nvSpPr>
          <p:spPr>
            <a:xfrm>
              <a:off x="35352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g1339711b92e_2_129"/>
            <p:cNvSpPr/>
            <p:nvPr/>
          </p:nvSpPr>
          <p:spPr>
            <a:xfrm>
              <a:off x="35352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g1339711b92e_2_129"/>
            <p:cNvSpPr/>
            <p:nvPr/>
          </p:nvSpPr>
          <p:spPr>
            <a:xfrm>
              <a:off x="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g1339711b92e_2_129"/>
            <p:cNvSpPr/>
            <p:nvPr/>
          </p:nvSpPr>
          <p:spPr>
            <a:xfrm>
              <a:off x="0" y="18545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g1339711b92e_2_129"/>
            <p:cNvSpPr/>
            <p:nvPr/>
          </p:nvSpPr>
          <p:spPr>
            <a:xfrm>
              <a:off x="0" y="27655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g1339711b92e_2_129"/>
            <p:cNvSpPr/>
            <p:nvPr/>
          </p:nvSpPr>
          <p:spPr>
            <a:xfrm>
              <a:off x="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g1339711b92e_2_129"/>
            <p:cNvSpPr/>
            <p:nvPr/>
          </p:nvSpPr>
          <p:spPr>
            <a:xfrm>
              <a:off x="0" y="9239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g1339711b92e_2_129"/>
            <p:cNvSpPr/>
            <p:nvPr/>
          </p:nvSpPr>
          <p:spPr>
            <a:xfrm>
              <a:off x="0" y="3227200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g1339711b92e_2_129"/>
            <p:cNvSpPr/>
            <p:nvPr/>
          </p:nvSpPr>
          <p:spPr>
            <a:xfrm>
              <a:off x="0" y="3686603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9" name="Google Shape;409;g1339711b92e_2_129"/>
          <p:cNvSpPr txBox="1"/>
          <p:nvPr/>
        </p:nvSpPr>
        <p:spPr>
          <a:xfrm>
            <a:off x="6646763" y="1359187"/>
            <a:ext cx="24276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Oleksii Kush</a:t>
            </a:r>
            <a:endParaRPr b="1" i="0" sz="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" sz="800" u="none" cap="none" strike="noStrike">
                <a:solidFill>
                  <a:srgbClr val="EC9301"/>
                </a:solidFill>
                <a:latin typeface="Montserrat"/>
                <a:ea typeface="Montserrat"/>
                <a:cs typeface="Montserrat"/>
                <a:sym typeface="Montserrat"/>
              </a:rPr>
              <a:t>Project Manager</a:t>
            </a:r>
            <a:endParaRPr b="1" i="0" sz="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g1339711b92e_2_129"/>
          <p:cNvSpPr txBox="1"/>
          <p:nvPr/>
        </p:nvSpPr>
        <p:spPr>
          <a:xfrm>
            <a:off x="6646763" y="3951937"/>
            <a:ext cx="2427600" cy="1203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  <a:endParaRPr b="1" i="0" sz="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" sz="800" u="none" cap="none" strike="noStrike">
                <a:solidFill>
                  <a:srgbClr val="EC9301"/>
                </a:solidFill>
                <a:latin typeface="Montserrat"/>
                <a:ea typeface="Montserrat"/>
                <a:cs typeface="Montserrat"/>
                <a:sym typeface="Montserrat"/>
              </a:rPr>
              <a:t>UI/UX Designer</a:t>
            </a:r>
            <a:endParaRPr b="1" i="0" sz="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1" name="Google Shape;411;g1339711b92e_2_129"/>
          <p:cNvSpPr txBox="1"/>
          <p:nvPr/>
        </p:nvSpPr>
        <p:spPr>
          <a:xfrm>
            <a:off x="404523" y="336561"/>
            <a:ext cx="336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700" u="none" cap="none" strike="noStrike">
                <a:solidFill>
                  <a:srgbClr val="9E9E9E"/>
                </a:solidFill>
                <a:latin typeface="Montserrat"/>
                <a:ea typeface="Montserrat"/>
                <a:cs typeface="Montserrat"/>
                <a:sym typeface="Montserrat"/>
              </a:rPr>
              <a:t>DESIGN STRATEGY</a:t>
            </a:r>
            <a:r>
              <a:rPr b="1" i="0" lang="en" sz="7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 COMPOSITION</a:t>
            </a:r>
            <a:endParaRPr b="1" i="0" sz="700" u="none" cap="none" strike="noStrike">
              <a:solidFill>
                <a:srgbClr val="9E9E9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2" name="Google Shape;412;g1339711b92e_2_129"/>
          <p:cNvSpPr/>
          <p:nvPr/>
        </p:nvSpPr>
        <p:spPr>
          <a:xfrm>
            <a:off x="4013275" y="2586850"/>
            <a:ext cx="2540700" cy="25719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1339711b92e_2_129"/>
          <p:cNvSpPr/>
          <p:nvPr/>
        </p:nvSpPr>
        <p:spPr>
          <a:xfrm>
            <a:off x="6584925" y="-6000"/>
            <a:ext cx="2577600" cy="25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1339711b92e_2_129"/>
          <p:cNvSpPr txBox="1"/>
          <p:nvPr/>
        </p:nvSpPr>
        <p:spPr>
          <a:xfrm>
            <a:off x="4058002" y="3930682"/>
            <a:ext cx="2427600" cy="1203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  <a:endParaRPr b="1" i="0" sz="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rgbClr val="EC9301"/>
                </a:solidFill>
                <a:latin typeface="Montserrat"/>
                <a:ea typeface="Montserrat"/>
                <a:cs typeface="Montserrat"/>
                <a:sym typeface="Montserrat"/>
              </a:rPr>
              <a:t>Senior UI/UX Designer</a:t>
            </a:r>
            <a:endParaRPr b="1" i="0" sz="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5" name="Google Shape;415;g1339711b92e_2_129"/>
          <p:cNvPicPr preferRelativeResize="0"/>
          <p:nvPr/>
        </p:nvPicPr>
        <p:blipFill rotWithShape="1">
          <a:blip r:embed="rId5">
            <a:alphaModFix/>
          </a:blip>
          <a:srcRect b="10007" l="0" r="0" t="0"/>
          <a:stretch/>
        </p:blipFill>
        <p:spPr>
          <a:xfrm>
            <a:off x="6572425" y="-5988"/>
            <a:ext cx="2577550" cy="25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g1339711b92e_2_129"/>
          <p:cNvSpPr txBox="1"/>
          <p:nvPr/>
        </p:nvSpPr>
        <p:spPr>
          <a:xfrm>
            <a:off x="6646763" y="1359187"/>
            <a:ext cx="24276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Oleksii Kush</a:t>
            </a:r>
            <a:endParaRPr b="1" i="0" sz="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" sz="800" u="none" cap="none" strike="noStrike">
                <a:solidFill>
                  <a:srgbClr val="EC9301"/>
                </a:solidFill>
                <a:latin typeface="Montserrat"/>
                <a:ea typeface="Montserrat"/>
                <a:cs typeface="Montserrat"/>
                <a:sym typeface="Montserrat"/>
              </a:rPr>
              <a:t>Project Manager</a:t>
            </a:r>
            <a:endParaRPr b="1" i="0" sz="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3"/>
          <p:cNvSpPr txBox="1"/>
          <p:nvPr/>
        </p:nvSpPr>
        <p:spPr>
          <a:xfrm>
            <a:off x="406475" y="2066725"/>
            <a:ext cx="33300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This library is a Design System with perfectly shaped UI kit for Figma with reusable templates for desktop</a:t>
            </a:r>
            <a:endParaRPr b="0" i="0" sz="9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&amp; mobile apps.</a:t>
            </a:r>
            <a:endParaRPr b="0" i="0" sz="9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have experience in using this UI Kit with icons, menu, dashboards and everything inside.  It is a good solution to apply </a:t>
            </a:r>
            <a:r>
              <a:rPr lang="en"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TvEyes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styles</a:t>
            </a:r>
            <a:r>
              <a:rPr lang="en"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</a:t>
            </a:r>
            <a:r>
              <a:rPr b="0" i="0" lang="en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and adapt for our needs.</a:t>
            </a:r>
            <a:endParaRPr b="0" i="0" sz="9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sng" cap="none" strike="noStrike">
                <a:solidFill>
                  <a:srgbClr val="674EA7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More Details</a:t>
            </a:r>
            <a:endParaRPr b="0" i="0" sz="900" u="none" cap="none" strike="noStrike">
              <a:solidFill>
                <a:srgbClr val="674EA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22" name="Google Shape;422;p13"/>
          <p:cNvGrpSpPr/>
          <p:nvPr/>
        </p:nvGrpSpPr>
        <p:grpSpPr>
          <a:xfrm>
            <a:off x="0" y="-6656"/>
            <a:ext cx="9144000" cy="5150150"/>
            <a:chOff x="0" y="-6656"/>
            <a:chExt cx="9144000" cy="5150150"/>
          </a:xfrm>
        </p:grpSpPr>
        <p:sp>
          <p:nvSpPr>
            <p:cNvPr id="423" name="Google Shape;423;p13"/>
            <p:cNvSpPr/>
            <p:nvPr/>
          </p:nvSpPr>
          <p:spPr>
            <a:xfrm>
              <a:off x="86787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3"/>
            <p:cNvSpPr/>
            <p:nvPr/>
          </p:nvSpPr>
          <p:spPr>
            <a:xfrm>
              <a:off x="82134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3"/>
            <p:cNvSpPr/>
            <p:nvPr/>
          </p:nvSpPr>
          <p:spPr>
            <a:xfrm>
              <a:off x="35352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3"/>
            <p:cNvSpPr/>
            <p:nvPr/>
          </p:nvSpPr>
          <p:spPr>
            <a:xfrm>
              <a:off x="35352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3"/>
            <p:cNvSpPr/>
            <p:nvPr/>
          </p:nvSpPr>
          <p:spPr>
            <a:xfrm>
              <a:off x="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3"/>
            <p:cNvSpPr/>
            <p:nvPr/>
          </p:nvSpPr>
          <p:spPr>
            <a:xfrm>
              <a:off x="0" y="18545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3"/>
            <p:cNvSpPr/>
            <p:nvPr/>
          </p:nvSpPr>
          <p:spPr>
            <a:xfrm>
              <a:off x="0" y="27655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3"/>
            <p:cNvSpPr/>
            <p:nvPr/>
          </p:nvSpPr>
          <p:spPr>
            <a:xfrm>
              <a:off x="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3"/>
            <p:cNvSpPr/>
            <p:nvPr/>
          </p:nvSpPr>
          <p:spPr>
            <a:xfrm>
              <a:off x="0" y="9239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3"/>
            <p:cNvSpPr/>
            <p:nvPr/>
          </p:nvSpPr>
          <p:spPr>
            <a:xfrm>
              <a:off x="0" y="3227200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3"/>
            <p:cNvSpPr/>
            <p:nvPr/>
          </p:nvSpPr>
          <p:spPr>
            <a:xfrm>
              <a:off x="0" y="3686603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3"/>
            <p:cNvSpPr/>
            <p:nvPr/>
          </p:nvSpPr>
          <p:spPr>
            <a:xfrm>
              <a:off x="86787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5" name="Google Shape;435;p13"/>
          <p:cNvSpPr txBox="1"/>
          <p:nvPr/>
        </p:nvSpPr>
        <p:spPr>
          <a:xfrm>
            <a:off x="439756" y="337150"/>
            <a:ext cx="2242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700" u="none" cap="none" strike="noStrike">
                <a:solidFill>
                  <a:srgbClr val="9E9E9E"/>
                </a:solidFill>
                <a:latin typeface="Montserrat"/>
                <a:ea typeface="Montserrat"/>
                <a:cs typeface="Montserrat"/>
                <a:sym typeface="Montserrat"/>
              </a:rPr>
              <a:t>DESIGN STRATEGY</a:t>
            </a:r>
            <a:r>
              <a:rPr b="1" i="0" lang="en" sz="7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DESIGN KIT | OPTION 1</a:t>
            </a:r>
            <a:endParaRPr b="1" i="0" sz="700" u="none" cap="none" strike="noStrike">
              <a:solidFill>
                <a:srgbClr val="9E9E9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13"/>
          <p:cNvSpPr txBox="1"/>
          <p:nvPr>
            <p:ph idx="4294967295" type="ctrTitle"/>
          </p:nvPr>
        </p:nvSpPr>
        <p:spPr>
          <a:xfrm>
            <a:off x="406475" y="794875"/>
            <a:ext cx="3594000" cy="11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Material Design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lang="en" sz="30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MUI</a:t>
            </a:r>
            <a:endParaRPr b="1" i="0" sz="3000" u="none" cap="none" strike="noStrike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7" name="Google Shape;43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7544" y="0"/>
            <a:ext cx="534646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" name="Google Shape;442;g1339711b92e_2_173"/>
          <p:cNvGrpSpPr/>
          <p:nvPr/>
        </p:nvGrpSpPr>
        <p:grpSpPr>
          <a:xfrm>
            <a:off x="0" y="-6656"/>
            <a:ext cx="9144000" cy="5150150"/>
            <a:chOff x="0" y="-6656"/>
            <a:chExt cx="9144000" cy="5150150"/>
          </a:xfrm>
        </p:grpSpPr>
        <p:sp>
          <p:nvSpPr>
            <p:cNvPr id="443" name="Google Shape;443;g1339711b92e_2_173"/>
            <p:cNvSpPr/>
            <p:nvPr/>
          </p:nvSpPr>
          <p:spPr>
            <a:xfrm>
              <a:off x="86787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g1339711b92e_2_173"/>
            <p:cNvSpPr/>
            <p:nvPr/>
          </p:nvSpPr>
          <p:spPr>
            <a:xfrm>
              <a:off x="82134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g1339711b92e_2_173"/>
            <p:cNvSpPr/>
            <p:nvPr/>
          </p:nvSpPr>
          <p:spPr>
            <a:xfrm>
              <a:off x="35352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g1339711b92e_2_173"/>
            <p:cNvSpPr/>
            <p:nvPr/>
          </p:nvSpPr>
          <p:spPr>
            <a:xfrm>
              <a:off x="35352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g1339711b92e_2_173"/>
            <p:cNvSpPr/>
            <p:nvPr/>
          </p:nvSpPr>
          <p:spPr>
            <a:xfrm>
              <a:off x="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g1339711b92e_2_173"/>
            <p:cNvSpPr/>
            <p:nvPr/>
          </p:nvSpPr>
          <p:spPr>
            <a:xfrm>
              <a:off x="0" y="18545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g1339711b92e_2_173"/>
            <p:cNvSpPr/>
            <p:nvPr/>
          </p:nvSpPr>
          <p:spPr>
            <a:xfrm>
              <a:off x="0" y="27655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g1339711b92e_2_173"/>
            <p:cNvSpPr/>
            <p:nvPr/>
          </p:nvSpPr>
          <p:spPr>
            <a:xfrm>
              <a:off x="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g1339711b92e_2_173"/>
            <p:cNvSpPr/>
            <p:nvPr/>
          </p:nvSpPr>
          <p:spPr>
            <a:xfrm>
              <a:off x="0" y="9239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g1339711b92e_2_173"/>
            <p:cNvSpPr/>
            <p:nvPr/>
          </p:nvSpPr>
          <p:spPr>
            <a:xfrm>
              <a:off x="0" y="3227200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g1339711b92e_2_173"/>
            <p:cNvSpPr/>
            <p:nvPr/>
          </p:nvSpPr>
          <p:spPr>
            <a:xfrm>
              <a:off x="0" y="3686603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g1339711b92e_2_173"/>
            <p:cNvSpPr/>
            <p:nvPr/>
          </p:nvSpPr>
          <p:spPr>
            <a:xfrm>
              <a:off x="86787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5" name="Google Shape;455;g1339711b92e_2_173"/>
          <p:cNvSpPr/>
          <p:nvPr/>
        </p:nvSpPr>
        <p:spPr>
          <a:xfrm>
            <a:off x="0" y="0"/>
            <a:ext cx="4000500" cy="51435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6" name="Google Shape;456;g1339711b92e_2_173"/>
          <p:cNvGrpSpPr/>
          <p:nvPr/>
        </p:nvGrpSpPr>
        <p:grpSpPr>
          <a:xfrm>
            <a:off x="0" y="-6656"/>
            <a:ext cx="9144000" cy="5150150"/>
            <a:chOff x="0" y="-6656"/>
            <a:chExt cx="9144000" cy="5150150"/>
          </a:xfrm>
        </p:grpSpPr>
        <p:sp>
          <p:nvSpPr>
            <p:cNvPr id="457" name="Google Shape;457;g1339711b92e_2_173"/>
            <p:cNvSpPr/>
            <p:nvPr/>
          </p:nvSpPr>
          <p:spPr>
            <a:xfrm>
              <a:off x="86787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g1339711b92e_2_173"/>
            <p:cNvSpPr/>
            <p:nvPr/>
          </p:nvSpPr>
          <p:spPr>
            <a:xfrm>
              <a:off x="82134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g1339711b92e_2_173"/>
            <p:cNvSpPr/>
            <p:nvPr/>
          </p:nvSpPr>
          <p:spPr>
            <a:xfrm>
              <a:off x="35352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g1339711b92e_2_173"/>
            <p:cNvSpPr/>
            <p:nvPr/>
          </p:nvSpPr>
          <p:spPr>
            <a:xfrm>
              <a:off x="35352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g1339711b92e_2_173"/>
            <p:cNvSpPr/>
            <p:nvPr/>
          </p:nvSpPr>
          <p:spPr>
            <a:xfrm>
              <a:off x="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g1339711b92e_2_173"/>
            <p:cNvSpPr/>
            <p:nvPr/>
          </p:nvSpPr>
          <p:spPr>
            <a:xfrm>
              <a:off x="0" y="18545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g1339711b92e_2_173"/>
            <p:cNvSpPr/>
            <p:nvPr/>
          </p:nvSpPr>
          <p:spPr>
            <a:xfrm>
              <a:off x="0" y="27655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g1339711b92e_2_173"/>
            <p:cNvSpPr/>
            <p:nvPr/>
          </p:nvSpPr>
          <p:spPr>
            <a:xfrm>
              <a:off x="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g1339711b92e_2_173"/>
            <p:cNvSpPr/>
            <p:nvPr/>
          </p:nvSpPr>
          <p:spPr>
            <a:xfrm>
              <a:off x="0" y="9239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g1339711b92e_2_173"/>
            <p:cNvSpPr/>
            <p:nvPr/>
          </p:nvSpPr>
          <p:spPr>
            <a:xfrm>
              <a:off x="0" y="3227200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g1339711b92e_2_173"/>
            <p:cNvSpPr/>
            <p:nvPr/>
          </p:nvSpPr>
          <p:spPr>
            <a:xfrm>
              <a:off x="0" y="3686603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g1339711b92e_2_173"/>
            <p:cNvSpPr/>
            <p:nvPr/>
          </p:nvSpPr>
          <p:spPr>
            <a:xfrm>
              <a:off x="86787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9" name="Google Shape;469;g1339711b92e_2_173"/>
          <p:cNvSpPr txBox="1"/>
          <p:nvPr/>
        </p:nvSpPr>
        <p:spPr>
          <a:xfrm>
            <a:off x="406475" y="2079950"/>
            <a:ext cx="3069600" cy="24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would like to use this slide for sharing links with Miro, Reports, Plans and shared folders (any other received resources).</a:t>
            </a:r>
            <a:endParaRPr b="0" i="0" sz="10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So, everyone can use this presentation as a reminder for future purpose.</a:t>
            </a:r>
            <a:endParaRPr b="0" i="0" sz="10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0" name="Google Shape;470;g1339711b92e_2_173"/>
          <p:cNvSpPr txBox="1"/>
          <p:nvPr>
            <p:ph type="title"/>
          </p:nvPr>
        </p:nvSpPr>
        <p:spPr>
          <a:xfrm>
            <a:off x="406475" y="836728"/>
            <a:ext cx="36759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" sz="3000">
                <a:latin typeface="Montserrat"/>
                <a:ea typeface="Montserrat"/>
                <a:cs typeface="Montserrat"/>
                <a:sym typeface="Montserrat"/>
              </a:rPr>
              <a:t>Links</a:t>
            </a:r>
            <a:endParaRPr b="1"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000">
                <a:solidFill>
                  <a:srgbClr val="EC9301"/>
                </a:solidFill>
                <a:latin typeface="Montserrat"/>
                <a:ea typeface="Montserrat"/>
                <a:cs typeface="Montserrat"/>
                <a:sym typeface="Montserrat"/>
              </a:rPr>
              <a:t>&amp; Materials</a:t>
            </a:r>
            <a:endParaRPr b="1" sz="3000">
              <a:solidFill>
                <a:srgbClr val="EC930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71" name="Google Shape;471;g1339711b92e_2_173"/>
          <p:cNvGraphicFramePr/>
          <p:nvPr/>
        </p:nvGraphicFramePr>
        <p:xfrm>
          <a:off x="4488019" y="8367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{C49059AC-83E0-4800-A9F5-5218521E8265}</a:tableStyleId>
              </a:tblPr>
              <a:tblGrid>
                <a:gridCol w="1431800"/>
                <a:gridCol w="2762975"/>
              </a:tblGrid>
              <a:tr h="425075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Links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What is it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</a:tr>
              <a:tr h="521175"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Google Drive</a:t>
                      </a:r>
                      <a:endParaRPr sz="1100" u="none" cap="none" strike="noStrike">
                        <a:solidFill>
                          <a:srgbClr val="1D1C1D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sng" cap="none" strike="noStrike">
                          <a:solidFill>
                            <a:srgbClr val="EC930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Shared documents with presentations &amp; everything</a:t>
                      </a:r>
                      <a:endParaRPr sz="1100" u="none" cap="none" strike="noStrike">
                        <a:solidFill>
                          <a:srgbClr val="EC930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</a:tr>
              <a:tr h="66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Design Board</a:t>
                      </a:r>
                      <a:endParaRPr sz="1100" u="none" cap="none" strike="noStrike">
                        <a:solidFill>
                          <a:srgbClr val="1D1C1D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9144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sng" cap="none" strike="noStrike">
                          <a:solidFill>
                            <a:srgbClr val="EC930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Miro Board for all design activities</a:t>
                      </a:r>
                      <a:r>
                        <a:rPr lang="en" sz="1100" u="none" cap="none" strike="noStrike">
                          <a:solidFill>
                            <a:srgbClr val="1D1C1D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and finding where we collaborate and store all outcomes</a:t>
                      </a:r>
                      <a:endParaRPr sz="1100" u="none" cap="none" strike="noStrike">
                        <a:solidFill>
                          <a:srgbClr val="1D1C1D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</a:tr>
              <a:tr h="63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Design Strategy</a:t>
                      </a:r>
                      <a:endParaRPr sz="1100" u="none" cap="none" strike="noStrike">
                        <a:solidFill>
                          <a:srgbClr val="1D1C1D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This is separated presentation with </a:t>
                      </a:r>
                      <a:r>
                        <a:rPr lang="en" sz="1100" u="sng">
                          <a:solidFill>
                            <a:srgbClr val="EC9301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Design Strategy for MVP</a:t>
                      </a:r>
                      <a:endParaRPr sz="1100" u="none" cap="none" strike="noStrike">
                        <a:solidFill>
                          <a:srgbClr val="EC930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72" name="Google Shape;472;g1339711b92e_2_173"/>
          <p:cNvSpPr txBox="1"/>
          <p:nvPr/>
        </p:nvSpPr>
        <p:spPr>
          <a:xfrm>
            <a:off x="439756" y="337150"/>
            <a:ext cx="2242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00">
                <a:solidFill>
                  <a:srgbClr val="9E9E9E"/>
                </a:solidFill>
                <a:latin typeface="Montserrat"/>
                <a:ea typeface="Montserrat"/>
                <a:cs typeface="Montserrat"/>
                <a:sym typeface="Montserrat"/>
              </a:rPr>
              <a:t>DESIGN STRATEGY</a:t>
            </a:r>
            <a:r>
              <a:rPr b="1" i="0" lang="en" sz="7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r>
              <a:rPr b="1" i="0" lang="en" sz="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LINKS</a:t>
            </a:r>
            <a:endParaRPr b="1" i="0" sz="700" u="none" cap="none" strike="noStrike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g1339711b92e_2_2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9034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1339711b92e_2_207"/>
          <p:cNvSpPr txBox="1"/>
          <p:nvPr>
            <p:ph type="ctrTitle"/>
          </p:nvPr>
        </p:nvSpPr>
        <p:spPr>
          <a:xfrm>
            <a:off x="4837650" y="1171475"/>
            <a:ext cx="3505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Design proposal</a:t>
            </a:r>
            <a:endParaRPr sz="300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for ToolsGroup</a:t>
            </a:r>
            <a:endParaRPr sz="300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79" name="Google Shape;479;g1339711b92e_2_207"/>
          <p:cNvSpPr txBox="1"/>
          <p:nvPr/>
        </p:nvSpPr>
        <p:spPr>
          <a:xfrm>
            <a:off x="4861336" y="2571757"/>
            <a:ext cx="12891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PREPARED FOR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0" name="Google Shape;480;g1339711b92e_2_207"/>
          <p:cNvSpPr txBox="1"/>
          <p:nvPr/>
        </p:nvSpPr>
        <p:spPr>
          <a:xfrm>
            <a:off x="4861336" y="2716652"/>
            <a:ext cx="197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Robert Kaufholz</a:t>
            </a:r>
            <a:endParaRPr b="1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1" name="Google Shape;481;g1339711b92e_2_207"/>
          <p:cNvSpPr txBox="1"/>
          <p:nvPr/>
        </p:nvSpPr>
        <p:spPr>
          <a:xfrm>
            <a:off x="4866139" y="3090271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MAY 21, 2021 (updated)</a:t>
            </a:r>
            <a:endParaRPr b="0"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2" name="Google Shape;482;g1339711b92e_2_207"/>
          <p:cNvPicPr preferRelativeResize="0"/>
          <p:nvPr/>
        </p:nvPicPr>
        <p:blipFill rotWithShape="1">
          <a:blip r:embed="rId4">
            <a:alphaModFix/>
          </a:blip>
          <a:srcRect b="2945" l="0" r="0" t="2945"/>
          <a:stretch/>
        </p:blipFill>
        <p:spPr>
          <a:xfrm>
            <a:off x="8001000" y="228600"/>
            <a:ext cx="914400" cy="38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3" name="Google Shape;483;g1339711b92e_2_207"/>
          <p:cNvGrpSpPr/>
          <p:nvPr/>
        </p:nvGrpSpPr>
        <p:grpSpPr>
          <a:xfrm>
            <a:off x="0" y="-6656"/>
            <a:ext cx="4000500" cy="5150150"/>
            <a:chOff x="0" y="-6656"/>
            <a:chExt cx="4000500" cy="5150150"/>
          </a:xfrm>
        </p:grpSpPr>
        <p:sp>
          <p:nvSpPr>
            <p:cNvPr id="484" name="Google Shape;484;g1339711b92e_2_207"/>
            <p:cNvSpPr/>
            <p:nvPr/>
          </p:nvSpPr>
          <p:spPr>
            <a:xfrm>
              <a:off x="353520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g1339711b92e_2_207"/>
            <p:cNvSpPr/>
            <p:nvPr/>
          </p:nvSpPr>
          <p:spPr>
            <a:xfrm>
              <a:off x="353520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g1339711b92e_2_207"/>
            <p:cNvSpPr/>
            <p:nvPr/>
          </p:nvSpPr>
          <p:spPr>
            <a:xfrm>
              <a:off x="0" y="467819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g1339711b92e_2_207"/>
            <p:cNvSpPr/>
            <p:nvPr/>
          </p:nvSpPr>
          <p:spPr>
            <a:xfrm>
              <a:off x="0" y="18545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g1339711b92e_2_207"/>
            <p:cNvSpPr/>
            <p:nvPr/>
          </p:nvSpPr>
          <p:spPr>
            <a:xfrm>
              <a:off x="0" y="27655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g1339711b92e_2_207"/>
            <p:cNvSpPr/>
            <p:nvPr/>
          </p:nvSpPr>
          <p:spPr>
            <a:xfrm>
              <a:off x="0" y="-6656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g1339711b92e_2_207"/>
            <p:cNvSpPr/>
            <p:nvPr/>
          </p:nvSpPr>
          <p:spPr>
            <a:xfrm>
              <a:off x="0" y="923944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g1339711b92e_2_207"/>
            <p:cNvSpPr/>
            <p:nvPr/>
          </p:nvSpPr>
          <p:spPr>
            <a:xfrm>
              <a:off x="0" y="3227200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g1339711b92e_2_207"/>
            <p:cNvSpPr/>
            <p:nvPr/>
          </p:nvSpPr>
          <p:spPr>
            <a:xfrm>
              <a:off x="0" y="3686603"/>
              <a:ext cx="465300" cy="46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3" name="Google Shape;493;g1339711b92e_2_207"/>
          <p:cNvSpPr/>
          <p:nvPr/>
        </p:nvSpPr>
        <p:spPr>
          <a:xfrm>
            <a:off x="4219188" y="0"/>
            <a:ext cx="4008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1339711b92e_2_207"/>
          <p:cNvSpPr/>
          <p:nvPr/>
        </p:nvSpPr>
        <p:spPr>
          <a:xfrm>
            <a:off x="4000488" y="0"/>
            <a:ext cx="51435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5" name="Google Shape;495;g1339711b92e_2_2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9325" y="458075"/>
            <a:ext cx="3761844" cy="4689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6" name="Google Shape;496;g1339711b92e_2_207"/>
          <p:cNvGrpSpPr/>
          <p:nvPr/>
        </p:nvGrpSpPr>
        <p:grpSpPr>
          <a:xfrm>
            <a:off x="0" y="0"/>
            <a:ext cx="4035800" cy="5143500"/>
            <a:chOff x="0" y="0"/>
            <a:chExt cx="4035800" cy="5143500"/>
          </a:xfrm>
        </p:grpSpPr>
        <p:sp>
          <p:nvSpPr>
            <p:cNvPr id="497" name="Google Shape;497;g1339711b92e_2_207"/>
            <p:cNvSpPr/>
            <p:nvPr/>
          </p:nvSpPr>
          <p:spPr>
            <a:xfrm>
              <a:off x="0" y="0"/>
              <a:ext cx="4008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200025" rotWithShape="0" algn="bl" dir="5400000" dist="57150">
                <a:srgbClr val="000000">
                  <a:alpha val="168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g1339711b92e_2_207"/>
            <p:cNvSpPr txBox="1"/>
            <p:nvPr/>
          </p:nvSpPr>
          <p:spPr>
            <a:xfrm>
              <a:off x="359900" y="1883878"/>
              <a:ext cx="3675900" cy="111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1" i="0" lang="en" sz="34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Let’s build something great   </a:t>
              </a:r>
              <a:endParaRPr b="1" i="0" sz="3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3400" u="none" cap="none" strike="noStrike">
                  <a:solidFill>
                    <a:srgbClr val="EC930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Together!</a:t>
              </a:r>
              <a:endParaRPr b="1" i="0" sz="3400" u="none" cap="none" strike="noStrike">
                <a:solidFill>
                  <a:srgbClr val="EC930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99" name="Google Shape;499;g1339711b92e_2_207"/>
            <p:cNvSpPr txBox="1"/>
            <p:nvPr/>
          </p:nvSpPr>
          <p:spPr>
            <a:xfrm>
              <a:off x="402211" y="4044641"/>
              <a:ext cx="1289100" cy="22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PREPARED FOR</a:t>
              </a:r>
              <a:endParaRPr b="0" i="0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00" name="Google Shape;500;g1339711b92e_2_207"/>
            <p:cNvSpPr txBox="1"/>
            <p:nvPr/>
          </p:nvSpPr>
          <p:spPr>
            <a:xfrm>
              <a:off x="395155" y="4202467"/>
              <a:ext cx="1974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lang="en" sz="1000">
                  <a:latin typeface="Montserrat"/>
                  <a:ea typeface="Montserrat"/>
                  <a:cs typeface="Montserrat"/>
                  <a:sym typeface="Montserrat"/>
                </a:rPr>
                <a:t>TvEyes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01" name="Google Shape;501;g1339711b92e_2_207"/>
            <p:cNvSpPr txBox="1"/>
            <p:nvPr/>
          </p:nvSpPr>
          <p:spPr>
            <a:xfrm>
              <a:off x="399959" y="4501384"/>
              <a:ext cx="1524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n" sz="700">
                  <a:solidFill>
                    <a:srgbClr val="9E9E9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Jun</a:t>
              </a:r>
              <a:r>
                <a:rPr b="1" i="0" lang="en" sz="700" u="none" cap="none" strike="noStrike">
                  <a:solidFill>
                    <a:srgbClr val="9E9E9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 2022</a:t>
              </a:r>
              <a:endParaRPr b="0" i="0" sz="900" u="none" cap="none" strike="noStrike">
                <a:solidFill>
                  <a:srgbClr val="9E9E9E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502" name="Google Shape;502;g1339711b92e_2_20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48975" y="458083"/>
              <a:ext cx="560118" cy="221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