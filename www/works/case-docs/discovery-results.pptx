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Montserrat"/>
      <p:regular r:id="rId21"/>
      <p:bold r:id="rId22"/>
      <p:italic r:id="rId23"/>
      <p:boldItalic r:id="rId24"/>
    </p:embeddedFont>
    <p:embeddedFont>
      <p:font typeface="Montserrat Medium"/>
      <p:regular r:id="rId25"/>
      <p:bold r:id="rId26"/>
      <p:italic r:id="rId27"/>
      <p:boldItalic r:id="rId28"/>
    </p:embeddedFont>
    <p:embeddedFont>
      <p:font typeface="Montserrat ExtraBold"/>
      <p:bold r:id="rId29"/>
      <p:boldItalic r:id="rId30"/>
    </p:embeddedFont>
    <p:embeddedFont>
      <p:font typeface="Open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35" roundtripDataSignature="AMtx7mjv0Qz+/j7CqLKbls7P/OtruBot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52FAF8-44A0-44F3-9007-67FDCE826D40}">
  <a:tblStyle styleId="{1F52FAF8-44A0-44F3-9007-67FDCE826D4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MontserratMedium-bold.fntdata"/><Relationship Id="rId25" Type="http://schemas.openxmlformats.org/officeDocument/2006/relationships/font" Target="fonts/MontserratMedium-regular.fntdata"/><Relationship Id="rId28" Type="http://schemas.openxmlformats.org/officeDocument/2006/relationships/font" Target="fonts/MontserratMedium-boldItalic.fntdata"/><Relationship Id="rId27" Type="http://schemas.openxmlformats.org/officeDocument/2006/relationships/font" Target="fonts/Montserrat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Extra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regular.fntdata"/><Relationship Id="rId30" Type="http://schemas.openxmlformats.org/officeDocument/2006/relationships/font" Target="fonts/MontserratExtraBold-boldItalic.fntdata"/><Relationship Id="rId11" Type="http://schemas.openxmlformats.org/officeDocument/2006/relationships/slide" Target="slides/slide5.xml"/><Relationship Id="rId33" Type="http://schemas.openxmlformats.org/officeDocument/2006/relationships/font" Target="fonts/OpenSans-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2d76c296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132d76c2969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2.png"/><Relationship Id="rId5" Type="http://schemas.openxmlformats.org/officeDocument/2006/relationships/hyperlink" Target="http://drive.google.com/file/d/1ehkhFzvy7ZQUjGRHluMdmjUEvXM8oygQ/view" TargetMode="External"/><Relationship Id="rId6" Type="http://schemas.openxmlformats.org/officeDocument/2006/relationships/image" Target="../media/image1.jp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rive.google.com/drive/folders/1AhU8cor6lflE3KE8yoXuqkA5vDzaaDbj" TargetMode="External"/><Relationship Id="rId4" Type="http://schemas.openxmlformats.org/officeDocument/2006/relationships/hyperlink" Target="https://drive.google.com/drive/folders/1OeErPYNn2fXB4kLDPg9MigONqxCjPeeX" TargetMode="External"/><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ocs.google.com/spreadsheets/d/1Zj4nK9bTOiXtEP6oetoR3umMIp2rEip4/edit?rtpof=true#gid=1605978909" TargetMode="External"/><Relationship Id="rId4" Type="http://schemas.openxmlformats.org/officeDocument/2006/relationships/hyperlink" Target="https://miro.com/app/board/uXjVO9OMa30=/?moveToWidget=3458764526990744779&amp;cot=14" TargetMode="External"/><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google.com/spreadsheets/d/1Zj4nK9bTOiXtEP6oetoR3umMIp2rEip4/edit#gid=160410992" TargetMode="External"/><Relationship Id="rId4" Type="http://schemas.openxmlformats.org/officeDocument/2006/relationships/hyperlink" Target="https://miro.com/app/board/uXjVO9OMa30=/?moveToWidget=3458764526792465901&amp;cot=14" TargetMode="External"/><Relationship Id="rId5"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rive.google.com/drive/folders/1OeErPYNn2fXB4kLDPg9MigONqxCjPeeX" TargetMode="External"/><Relationship Id="rId4" Type="http://schemas.openxmlformats.org/officeDocument/2006/relationships/hyperlink" Target="https://drive.google.com/drive/folders/1OeErPYNn2fXB4kLDPg9MigONqxCjPeeX" TargetMode="External"/><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rive.google.com/drive/folders/1OeErPYNn2fXB4kLDPg9MigONqxCjPeeX" TargetMode="Externa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s://drive.google.com/drive/folders/1OeErPYNn2fXB4kLDPg9MigONqxCjPeeX" TargetMode="External"/><Relationship Id="rId5"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figma.com/proto/hPNK7yFC7sXv5knvj4HlpO/TvEyes---LowFi?page-id=0%3A1&amp;node-id=1%3A505&amp;viewport=5629%2C504%2C0.25&amp;scaling=min-zoom&amp;starting-point-node-id=1%3A505" TargetMode="External"/><Relationship Id="rId4" Type="http://schemas.openxmlformats.org/officeDocument/2006/relationships/hyperlink" Target="http://drive.google.com/file/d/1ehkhFzvy7ZQUjGRHluMdmjUEvXM8oygQ/view" TargetMode="External"/><Relationship Id="rId5"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google.com/presentation/d/1gULWFioPnFChlOeISl5Z4psBjpW0GsJ8/edit#slide=id.p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rive.google.com/drive/folders/1OeErPYNn2fXB4kLDPg9MigONqxCjPeeX" TargetMode="External"/><Relationship Id="rId4" Type="http://schemas.openxmlformats.org/officeDocument/2006/relationships/hyperlink" Target="https://miro.com/app/board/uXjVO9OMa30=/?moveToWidget=3458764526990744779&amp;cot=14" TargetMode="External"/><Relationship Id="rId5" Type="http://schemas.openxmlformats.org/officeDocument/2006/relationships/hyperlink" Target="https://docs.google.com/presentation/d/1gULWFioPnFChlOeISl5Z4psBjpW0GsJ8/edit?rtpof=tru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15182" t="0"/>
          <a:stretch/>
        </p:blipFill>
        <p:spPr>
          <a:xfrm>
            <a:off x="4005575" y="0"/>
            <a:ext cx="5143501" cy="5143500"/>
          </a:xfrm>
          <a:prstGeom prst="rect">
            <a:avLst/>
          </a:prstGeom>
          <a:noFill/>
          <a:ln>
            <a:noFill/>
          </a:ln>
        </p:spPr>
      </p:pic>
      <p:sp>
        <p:nvSpPr>
          <p:cNvPr id="55" name="Google Shape;55;p1"/>
          <p:cNvSpPr txBox="1"/>
          <p:nvPr/>
        </p:nvSpPr>
        <p:spPr>
          <a:xfrm>
            <a:off x="4861336" y="2571757"/>
            <a:ext cx="1289100" cy="221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PREPARED FOR</a:t>
            </a:r>
            <a:endParaRPr b="0" i="0" sz="900" u="none" cap="none" strike="noStrike">
              <a:solidFill>
                <a:srgbClr val="000000"/>
              </a:solidFill>
              <a:latin typeface="Montserrat"/>
              <a:ea typeface="Montserrat"/>
              <a:cs typeface="Montserrat"/>
              <a:sym typeface="Montserrat"/>
            </a:endParaRPr>
          </a:p>
        </p:txBody>
      </p:sp>
      <p:sp>
        <p:nvSpPr>
          <p:cNvPr id="56" name="Google Shape;56;p1"/>
          <p:cNvSpPr txBox="1"/>
          <p:nvPr/>
        </p:nvSpPr>
        <p:spPr>
          <a:xfrm>
            <a:off x="4861336" y="2716652"/>
            <a:ext cx="19749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1" i="0" lang="en" sz="1000" u="none" cap="none" strike="noStrike">
                <a:solidFill>
                  <a:srgbClr val="000000"/>
                </a:solidFill>
                <a:latin typeface="Montserrat"/>
                <a:ea typeface="Montserrat"/>
                <a:cs typeface="Montserrat"/>
                <a:sym typeface="Montserrat"/>
              </a:rPr>
              <a:t>Robert Kaufholz</a:t>
            </a:r>
            <a:endParaRPr b="1" i="0" sz="10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p:txBody>
      </p:sp>
      <p:sp>
        <p:nvSpPr>
          <p:cNvPr id="57" name="Google Shape;57;p1"/>
          <p:cNvSpPr txBox="1"/>
          <p:nvPr/>
        </p:nvSpPr>
        <p:spPr>
          <a:xfrm>
            <a:off x="4866139" y="3090271"/>
            <a:ext cx="15240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MAY 21, 2021 (updated)</a:t>
            </a:r>
            <a:endParaRPr b="0" i="0" sz="900" u="none" cap="none" strike="noStrike">
              <a:solidFill>
                <a:srgbClr val="000000"/>
              </a:solidFill>
              <a:latin typeface="Montserrat"/>
              <a:ea typeface="Montserrat"/>
              <a:cs typeface="Montserrat"/>
              <a:sym typeface="Montserrat"/>
            </a:endParaRPr>
          </a:p>
        </p:txBody>
      </p:sp>
      <p:grpSp>
        <p:nvGrpSpPr>
          <p:cNvPr id="58" name="Google Shape;58;p1"/>
          <p:cNvGrpSpPr/>
          <p:nvPr/>
        </p:nvGrpSpPr>
        <p:grpSpPr>
          <a:xfrm>
            <a:off x="0" y="-6656"/>
            <a:ext cx="4000500" cy="5150150"/>
            <a:chOff x="0" y="-6656"/>
            <a:chExt cx="4000500" cy="5150150"/>
          </a:xfrm>
        </p:grpSpPr>
        <p:sp>
          <p:nvSpPr>
            <p:cNvPr id="59" name="Google Shape;59;p1"/>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 name="Google Shape;68;p1"/>
          <p:cNvGrpSpPr/>
          <p:nvPr/>
        </p:nvGrpSpPr>
        <p:grpSpPr>
          <a:xfrm>
            <a:off x="0" y="0"/>
            <a:ext cx="4035800" cy="5143500"/>
            <a:chOff x="0" y="0"/>
            <a:chExt cx="4035800" cy="5143500"/>
          </a:xfrm>
        </p:grpSpPr>
        <p:sp>
          <p:nvSpPr>
            <p:cNvPr id="69" name="Google Shape;69;p1"/>
            <p:cNvSpPr/>
            <p:nvPr/>
          </p:nvSpPr>
          <p:spPr>
            <a:xfrm>
              <a:off x="0" y="0"/>
              <a:ext cx="4008000" cy="5143500"/>
            </a:xfrm>
            <a:prstGeom prst="rect">
              <a:avLst/>
            </a:prstGeom>
            <a:solidFill>
              <a:srgbClr val="FFFFFF"/>
            </a:solidFill>
            <a:ln>
              <a:noFill/>
            </a:ln>
            <a:effectLst>
              <a:outerShdw blurRad="200025" rotWithShape="0" algn="bl" dir="5400000" dist="57150">
                <a:srgbClr val="000000">
                  <a:alpha val="1686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txBox="1"/>
            <p:nvPr/>
          </p:nvSpPr>
          <p:spPr>
            <a:xfrm>
              <a:off x="359900" y="1883878"/>
              <a:ext cx="3675900" cy="1113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 sz="3400" u="none" cap="none" strike="noStrike">
                  <a:solidFill>
                    <a:srgbClr val="000000"/>
                  </a:solidFill>
                  <a:latin typeface="Montserrat"/>
                  <a:ea typeface="Montserrat"/>
                  <a:cs typeface="Montserrat"/>
                  <a:sym typeface="Montserrat"/>
                </a:rPr>
                <a:t>Discovery </a:t>
              </a:r>
              <a:endParaRPr b="1" i="0" sz="3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 sz="3400" u="none" cap="none" strike="noStrike">
                  <a:solidFill>
                    <a:srgbClr val="EC9301"/>
                  </a:solidFill>
                  <a:latin typeface="Montserrat"/>
                  <a:ea typeface="Montserrat"/>
                  <a:cs typeface="Montserrat"/>
                  <a:sym typeface="Montserrat"/>
                </a:rPr>
                <a:t>Results</a:t>
              </a:r>
              <a:endParaRPr b="1" i="0" sz="3400" u="none" cap="none" strike="noStrike">
                <a:solidFill>
                  <a:srgbClr val="EC9301"/>
                </a:solidFill>
                <a:latin typeface="Montserrat"/>
                <a:ea typeface="Montserrat"/>
                <a:cs typeface="Montserrat"/>
                <a:sym typeface="Montserrat"/>
              </a:endParaRPr>
            </a:p>
          </p:txBody>
        </p:sp>
        <p:sp>
          <p:nvSpPr>
            <p:cNvPr id="71" name="Google Shape;71;p1"/>
            <p:cNvSpPr txBox="1"/>
            <p:nvPr/>
          </p:nvSpPr>
          <p:spPr>
            <a:xfrm>
              <a:off x="402211" y="4044641"/>
              <a:ext cx="1289100" cy="221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PREPARED FOR</a:t>
              </a:r>
              <a:endParaRPr b="0" i="0" sz="900" u="none" cap="none" strike="noStrike">
                <a:solidFill>
                  <a:srgbClr val="000000"/>
                </a:solidFill>
                <a:latin typeface="Montserrat"/>
                <a:ea typeface="Montserrat"/>
                <a:cs typeface="Montserrat"/>
                <a:sym typeface="Montserrat"/>
              </a:endParaRPr>
            </a:p>
          </p:txBody>
        </p:sp>
        <p:sp>
          <p:nvSpPr>
            <p:cNvPr id="72" name="Google Shape;72;p1"/>
            <p:cNvSpPr txBox="1"/>
            <p:nvPr/>
          </p:nvSpPr>
          <p:spPr>
            <a:xfrm>
              <a:off x="395155" y="4202467"/>
              <a:ext cx="19749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1" lang="en" sz="1000">
                  <a:latin typeface="Montserrat"/>
                  <a:ea typeface="Montserrat"/>
                  <a:cs typeface="Montserrat"/>
                  <a:sym typeface="Montserrat"/>
                </a:rPr>
                <a:t>TvEyes</a:t>
              </a:r>
              <a:endParaRPr b="1" i="0" sz="10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p:txBody>
        </p:sp>
        <p:sp>
          <p:nvSpPr>
            <p:cNvPr id="73" name="Google Shape;73;p1"/>
            <p:cNvSpPr txBox="1"/>
            <p:nvPr/>
          </p:nvSpPr>
          <p:spPr>
            <a:xfrm>
              <a:off x="399959" y="4501384"/>
              <a:ext cx="15240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lang="en" sz="700">
                  <a:solidFill>
                    <a:srgbClr val="9E9E9E"/>
                  </a:solidFill>
                  <a:latin typeface="Montserrat"/>
                  <a:ea typeface="Montserrat"/>
                  <a:cs typeface="Montserrat"/>
                  <a:sym typeface="Montserrat"/>
                </a:rPr>
                <a:t>June</a:t>
              </a:r>
              <a:r>
                <a:rPr b="1" i="0" lang="en" sz="700" u="none" cap="none" strike="noStrike">
                  <a:solidFill>
                    <a:srgbClr val="9E9E9E"/>
                  </a:solidFill>
                  <a:latin typeface="Montserrat"/>
                  <a:ea typeface="Montserrat"/>
                  <a:cs typeface="Montserrat"/>
                  <a:sym typeface="Montserrat"/>
                </a:rPr>
                <a:t>, 2022</a:t>
              </a:r>
              <a:endParaRPr b="0" i="0" sz="900" u="none" cap="none" strike="noStrike">
                <a:solidFill>
                  <a:srgbClr val="9E9E9E"/>
                </a:solidFill>
                <a:latin typeface="Montserrat"/>
                <a:ea typeface="Montserrat"/>
                <a:cs typeface="Montserrat"/>
                <a:sym typeface="Montserrat"/>
              </a:endParaRPr>
            </a:p>
          </p:txBody>
        </p:sp>
        <p:pic>
          <p:nvPicPr>
            <p:cNvPr id="74" name="Google Shape;74;p1"/>
            <p:cNvPicPr preferRelativeResize="0"/>
            <p:nvPr/>
          </p:nvPicPr>
          <p:blipFill rotWithShape="1">
            <a:blip r:embed="rId4">
              <a:alphaModFix/>
            </a:blip>
            <a:srcRect b="0" l="0" r="0" t="0"/>
            <a:stretch/>
          </p:blipFill>
          <p:spPr>
            <a:xfrm>
              <a:off x="448975" y="458083"/>
              <a:ext cx="560118" cy="221100"/>
            </a:xfrm>
            <a:prstGeom prst="rect">
              <a:avLst/>
            </a:prstGeom>
            <a:noFill/>
            <a:ln>
              <a:noFill/>
            </a:ln>
          </p:spPr>
        </p:pic>
      </p:grpSp>
      <p:pic>
        <p:nvPicPr>
          <p:cNvPr id="75" name="Google Shape;75;p1" title="tveyes-demo.mov">
            <a:hlinkClick r:id="rId5"/>
          </p:cNvPr>
          <p:cNvPicPr preferRelativeResize="0"/>
          <p:nvPr/>
        </p:nvPicPr>
        <p:blipFill>
          <a:blip r:embed="rId6">
            <a:alphaModFix/>
          </a:blip>
          <a:stretch>
            <a:fillRect/>
          </a:stretch>
        </p:blipFill>
        <p:spPr>
          <a:xfrm>
            <a:off x="4961175" y="1624025"/>
            <a:ext cx="3222173" cy="2013849"/>
          </a:xfrm>
          <a:prstGeom prst="rect">
            <a:avLst/>
          </a:prstGeom>
          <a:noFill/>
          <a:ln>
            <a:noFill/>
          </a:ln>
          <a:effectLst>
            <a:outerShdw blurRad="57150" rotWithShape="0" algn="bl" dir="5400000" dist="19050">
              <a:srgbClr val="000000">
                <a:alpha val="50000"/>
              </a:srgbClr>
            </a:outerShdw>
          </a:effectLst>
        </p:spPr>
      </p:pic>
      <p:pic>
        <p:nvPicPr>
          <p:cNvPr id="76" name="Google Shape;76;p1"/>
          <p:cNvPicPr preferRelativeResize="0"/>
          <p:nvPr/>
        </p:nvPicPr>
        <p:blipFill rotWithShape="1">
          <a:blip r:embed="rId7">
            <a:alphaModFix/>
          </a:blip>
          <a:srcRect b="2945" l="0" r="0" t="2945"/>
          <a:stretch/>
        </p:blipFill>
        <p:spPr>
          <a:xfrm>
            <a:off x="1207225" y="446600"/>
            <a:ext cx="665875" cy="277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txBox="1"/>
          <p:nvPr/>
        </p:nvSpPr>
        <p:spPr>
          <a:xfrm>
            <a:off x="4641125" y="948150"/>
            <a:ext cx="19854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1" i="0" lang="en" sz="1000" u="none" cap="none" strike="noStrike">
                <a:solidFill>
                  <a:srgbClr val="EC9301"/>
                </a:solidFill>
                <a:latin typeface="Arial"/>
                <a:ea typeface="Arial"/>
                <a:cs typeface="Arial"/>
                <a:sym typeface="Arial"/>
              </a:rPr>
              <a:t>Executive Summary</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rgbClr val="0E101A"/>
                </a:solidFill>
                <a:latin typeface="Arial"/>
                <a:ea typeface="Arial"/>
                <a:cs typeface="Arial"/>
                <a:sym typeface="Arial"/>
              </a:rPr>
              <a:t>Problem</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rgbClr val="0E101A"/>
                </a:solidFill>
                <a:latin typeface="Arial"/>
                <a:ea typeface="Arial"/>
                <a:cs typeface="Arial"/>
                <a:sym typeface="Arial"/>
              </a:rPr>
              <a:t>Solution</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1" i="0" lang="en" sz="1000" u="none" cap="none" strike="noStrike">
                <a:solidFill>
                  <a:srgbClr val="EC9301"/>
                </a:solidFill>
                <a:latin typeface="Arial"/>
                <a:ea typeface="Arial"/>
                <a:cs typeface="Arial"/>
                <a:sym typeface="Arial"/>
              </a:rPr>
              <a:t>End-Users’ Input </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rgbClr val="0E101A"/>
                </a:solidFill>
                <a:latin typeface="Arial"/>
                <a:ea typeface="Arial"/>
                <a:cs typeface="Arial"/>
                <a:sym typeface="Arial"/>
              </a:rPr>
              <a:t>Findings</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rgbClr val="0E101A"/>
                </a:solidFill>
                <a:latin typeface="Arial"/>
                <a:ea typeface="Arial"/>
                <a:cs typeface="Arial"/>
                <a:sym typeface="Arial"/>
              </a:rPr>
              <a:t>Pain Points</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lang="en" sz="1000">
                <a:solidFill>
                  <a:srgbClr val="0E101A"/>
                </a:solidFill>
              </a:rPr>
              <a:t>Needs</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1" i="0" lang="en" sz="1000" u="none" cap="none" strike="noStrike">
                <a:solidFill>
                  <a:srgbClr val="EC9301"/>
                </a:solidFill>
                <a:latin typeface="Arial"/>
                <a:ea typeface="Arial"/>
                <a:cs typeface="Arial"/>
                <a:sym typeface="Arial"/>
              </a:rPr>
              <a:t>Stakeholders Input</a:t>
            </a:r>
            <a:r>
              <a:rPr b="0" i="0" lang="en" sz="1000" u="none" cap="none" strike="noStrike">
                <a:solidFill>
                  <a:srgbClr val="0E101A"/>
                </a:solidFill>
                <a:latin typeface="Arial"/>
                <a:ea typeface="Arial"/>
                <a:cs typeface="Arial"/>
                <a:sym typeface="Arial"/>
              </a:rPr>
              <a:t> </a:t>
            </a:r>
            <a:endParaRPr b="0" i="0" sz="1000" u="none" cap="none" strike="noStrike">
              <a:solidFill>
                <a:srgbClr val="0E101A"/>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b="0" i="0" lang="en" sz="1000" u="none" cap="none" strike="noStrike">
                <a:solidFill>
                  <a:srgbClr val="0E101A"/>
                </a:solidFill>
                <a:latin typeface="Arial"/>
                <a:ea typeface="Arial"/>
                <a:cs typeface="Arial"/>
                <a:sym typeface="Arial"/>
              </a:rPr>
              <a:t>Findings</a:t>
            </a:r>
            <a:endParaRPr sz="1000">
              <a:solidFill>
                <a:srgbClr val="0E101A"/>
              </a:solidFill>
            </a:endParaRPr>
          </a:p>
        </p:txBody>
      </p:sp>
      <p:sp>
        <p:nvSpPr>
          <p:cNvPr id="82" name="Google Shape;82;p2"/>
          <p:cNvSpPr/>
          <p:nvPr/>
        </p:nvSpPr>
        <p:spPr>
          <a:xfrm>
            <a:off x="0" y="0"/>
            <a:ext cx="4000500" cy="5143500"/>
          </a:xfrm>
          <a:prstGeom prst="rect">
            <a:avLst/>
          </a:prstGeom>
          <a:solidFill>
            <a:srgbClr val="F8F8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 name="Google Shape;83;p2"/>
          <p:cNvGrpSpPr/>
          <p:nvPr/>
        </p:nvGrpSpPr>
        <p:grpSpPr>
          <a:xfrm>
            <a:off x="0" y="-6656"/>
            <a:ext cx="9144000" cy="5150150"/>
            <a:chOff x="0" y="-6656"/>
            <a:chExt cx="9144000" cy="5150150"/>
          </a:xfrm>
        </p:grpSpPr>
        <p:sp>
          <p:nvSpPr>
            <p:cNvPr id="84" name="Google Shape;84;p2"/>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2"/>
          <p:cNvSpPr txBox="1"/>
          <p:nvPr/>
        </p:nvSpPr>
        <p:spPr>
          <a:xfrm>
            <a:off x="439756" y="337150"/>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 RESULTS</a:t>
            </a:r>
            <a:r>
              <a:rPr b="1" i="0" lang="en" sz="700" u="none" cap="none" strike="noStrike">
                <a:solidFill>
                  <a:srgbClr val="B7B7B7"/>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INTRO</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97" name="Google Shape;97;p2"/>
          <p:cNvSpPr txBox="1"/>
          <p:nvPr/>
        </p:nvSpPr>
        <p:spPr>
          <a:xfrm>
            <a:off x="406475" y="2094750"/>
            <a:ext cx="3134100" cy="2247300"/>
          </a:xfrm>
          <a:prstGeom prst="rect">
            <a:avLst/>
          </a:prstGeom>
          <a:noFill/>
          <a:ln>
            <a:noFill/>
          </a:ln>
        </p:spPr>
        <p:txBody>
          <a:bodyPr anchorCtr="0" anchor="t" bIns="91425" lIns="91425" spcFirstLastPara="1" rIns="91425" wrap="square" tIns="91425">
            <a:noAutofit/>
          </a:bodyPr>
          <a:lstStyle/>
          <a:p>
            <a:pPr indent="0" lvl="0" marL="0" marR="0" rtl="0" algn="l">
              <a:lnSpc>
                <a:spcPct val="125000"/>
              </a:lnSpc>
              <a:spcBef>
                <a:spcPts val="0"/>
              </a:spcBef>
              <a:spcAft>
                <a:spcPts val="0"/>
              </a:spcAft>
              <a:buClr>
                <a:schemeClr val="dk1"/>
              </a:buClr>
              <a:buSzPts val="1100"/>
              <a:buFont typeface="Arial"/>
              <a:buNone/>
            </a:pPr>
            <a:r>
              <a:rPr b="0" i="0" lang="en" sz="900" u="none" cap="none" strike="noStrike">
                <a:solidFill>
                  <a:schemeClr val="dk1"/>
                </a:solidFill>
                <a:latin typeface="Montserrat Medium"/>
                <a:ea typeface="Montserrat Medium"/>
                <a:cs typeface="Montserrat Medium"/>
                <a:sym typeface="Montserrat Medium"/>
              </a:rPr>
              <a:t>The primary outcome of this document - share</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rPr b="0" i="0" lang="en" sz="900" u="none" cap="none" strike="noStrike">
                <a:solidFill>
                  <a:schemeClr val="dk1"/>
                </a:solidFill>
                <a:latin typeface="Montserrat Medium"/>
                <a:ea typeface="Montserrat Medium"/>
                <a:cs typeface="Montserrat Medium"/>
                <a:sym typeface="Montserrat Medium"/>
              </a:rPr>
              <a:t>the results of the Discovery Phase.</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rPr b="0" i="0" lang="en" sz="900" u="none" cap="none" strike="noStrike">
                <a:solidFill>
                  <a:schemeClr val="dk1"/>
                </a:solidFill>
                <a:latin typeface="Montserrat Medium"/>
                <a:ea typeface="Montserrat Medium"/>
                <a:cs typeface="Montserrat Medium"/>
                <a:sym typeface="Montserrat Medium"/>
              </a:rPr>
              <a:t>This document contains links, material, and understanding from the different points of view collected during the Discovery Phase.  </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rPr b="0" i="0" lang="en" sz="900" u="none" cap="none" strike="noStrike">
                <a:solidFill>
                  <a:schemeClr val="dk1"/>
                </a:solidFill>
                <a:latin typeface="Montserrat Medium"/>
                <a:ea typeface="Montserrat Medium"/>
                <a:cs typeface="Montserrat Medium"/>
                <a:sym typeface="Montserrat Medium"/>
              </a:rPr>
              <a:t>As a result of all these findings, </a:t>
            </a:r>
            <a:r>
              <a:rPr lang="en" sz="900">
                <a:solidFill>
                  <a:schemeClr val="dk1"/>
                </a:solidFill>
                <a:latin typeface="Montserrat Medium"/>
                <a:ea typeface="Montserrat Medium"/>
                <a:cs typeface="Montserrat Medium"/>
                <a:sym typeface="Montserrat Medium"/>
              </a:rPr>
              <a:t>there are</a:t>
            </a:r>
            <a:r>
              <a:rPr b="0" i="0" lang="en" sz="900" u="none" cap="none" strike="noStrike">
                <a:solidFill>
                  <a:schemeClr val="dk1"/>
                </a:solidFill>
                <a:latin typeface="Montserrat Medium"/>
                <a:ea typeface="Montserrat Medium"/>
                <a:cs typeface="Montserrat Medium"/>
                <a:sym typeface="Montserrat Medium"/>
              </a:rPr>
              <a:t> a scope of work and a Design Vision for further development and growth for the product.</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9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rPr b="0" i="0" lang="en" sz="900" u="none" cap="none" strike="noStrike">
                <a:solidFill>
                  <a:schemeClr val="dk1"/>
                </a:solidFill>
                <a:latin typeface="Montserrat Medium"/>
                <a:ea typeface="Montserrat Medium"/>
                <a:cs typeface="Montserrat Medium"/>
                <a:sym typeface="Montserrat Medium"/>
              </a:rPr>
              <a:t>Design strategy with a roadmap presented as a next separate document.</a:t>
            </a:r>
            <a:endParaRPr b="0" i="0" sz="900" u="none" cap="none" strike="noStrike">
              <a:solidFill>
                <a:schemeClr val="dk1"/>
              </a:solidFill>
              <a:latin typeface="Montserrat Medium"/>
              <a:ea typeface="Montserrat Medium"/>
              <a:cs typeface="Montserrat Medium"/>
              <a:sym typeface="Montserrat Medium"/>
            </a:endParaRPr>
          </a:p>
        </p:txBody>
      </p:sp>
      <p:sp>
        <p:nvSpPr>
          <p:cNvPr id="98" name="Google Shape;98;p2"/>
          <p:cNvSpPr txBox="1"/>
          <p:nvPr>
            <p:ph idx="4294967295" type="ctrTitle"/>
          </p:nvPr>
        </p:nvSpPr>
        <p:spPr>
          <a:xfrm>
            <a:off x="406475" y="890674"/>
            <a:ext cx="3675900" cy="120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Intro &amp;</a:t>
            </a:r>
            <a:endParaRPr b="1" i="0" sz="30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rgbClr val="EC9301"/>
                </a:solidFill>
                <a:latin typeface="Montserrat"/>
                <a:ea typeface="Montserrat"/>
                <a:cs typeface="Montserrat"/>
                <a:sym typeface="Montserrat"/>
              </a:rPr>
              <a:t>Content</a:t>
            </a:r>
            <a:endParaRPr b="1" i="0" sz="3000" u="none" cap="none" strike="noStrike">
              <a:solidFill>
                <a:schemeClr val="dk1"/>
              </a:solidFill>
              <a:latin typeface="Montserrat"/>
              <a:ea typeface="Montserrat"/>
              <a:cs typeface="Montserrat"/>
              <a:sym typeface="Montserrat"/>
            </a:endParaRPr>
          </a:p>
        </p:txBody>
      </p:sp>
      <p:sp>
        <p:nvSpPr>
          <p:cNvPr id="99" name="Google Shape;99;p2"/>
          <p:cNvSpPr txBox="1"/>
          <p:nvPr/>
        </p:nvSpPr>
        <p:spPr>
          <a:xfrm>
            <a:off x="6856600" y="948150"/>
            <a:ext cx="1985400" cy="1923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1" lang="en" sz="1000">
                <a:solidFill>
                  <a:srgbClr val="EC9301"/>
                </a:solidFill>
              </a:rPr>
              <a:t>MVP Scope</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rPr lang="en" sz="1000">
                <a:solidFill>
                  <a:srgbClr val="0E101A"/>
                </a:solidFill>
              </a:rPr>
              <a:t>CJM</a:t>
            </a:r>
            <a:endParaRPr sz="1000">
              <a:solidFill>
                <a:srgbClr val="0E101A"/>
              </a:solidFill>
            </a:endParaRPr>
          </a:p>
          <a:p>
            <a:pPr indent="0" lvl="0" marL="0" rtl="0" algn="l">
              <a:lnSpc>
                <a:spcPct val="150000"/>
              </a:lnSpc>
              <a:spcBef>
                <a:spcPts val="0"/>
              </a:spcBef>
              <a:spcAft>
                <a:spcPts val="0"/>
              </a:spcAft>
              <a:buClr>
                <a:schemeClr val="dk1"/>
              </a:buClr>
              <a:buSzPts val="1000"/>
              <a:buFont typeface="Arial"/>
              <a:buNone/>
            </a:pPr>
            <a:r>
              <a:rPr lang="en" sz="1000">
                <a:solidFill>
                  <a:srgbClr val="0E101A"/>
                </a:solidFill>
              </a:rPr>
              <a:t>LOW-FI Wireframes</a:t>
            </a:r>
            <a:endParaRPr sz="1000">
              <a:solidFill>
                <a:srgbClr val="0E101A"/>
              </a:solidFill>
            </a:endParaRPr>
          </a:p>
          <a:p>
            <a:pPr indent="0" lvl="0" marL="0" rtl="0" algn="l">
              <a:lnSpc>
                <a:spcPct val="150000"/>
              </a:lnSpc>
              <a:spcBef>
                <a:spcPts val="0"/>
              </a:spcBef>
              <a:spcAft>
                <a:spcPts val="0"/>
              </a:spcAft>
              <a:buClr>
                <a:schemeClr val="dk1"/>
              </a:buClr>
              <a:buSzPts val="1000"/>
              <a:buFont typeface="Arial"/>
              <a:buNone/>
            </a:pPr>
            <a:r>
              <a:t/>
            </a:r>
            <a:endParaRPr sz="1000">
              <a:solidFill>
                <a:srgbClr val="0E101A"/>
              </a:solidFill>
            </a:endParaRPr>
          </a:p>
          <a:p>
            <a:pPr indent="0" lvl="0" marL="0" marR="0" rtl="0" algn="l">
              <a:lnSpc>
                <a:spcPct val="150000"/>
              </a:lnSpc>
              <a:spcBef>
                <a:spcPts val="0"/>
              </a:spcBef>
              <a:spcAft>
                <a:spcPts val="0"/>
              </a:spcAft>
              <a:buClr>
                <a:srgbClr val="000000"/>
              </a:buClr>
              <a:buSzPts val="1000"/>
              <a:buFont typeface="Arial"/>
              <a:buNone/>
            </a:pPr>
            <a:r>
              <a:rPr b="1" i="0" lang="en" sz="1000" u="none" cap="none" strike="noStrike">
                <a:solidFill>
                  <a:srgbClr val="EC9301"/>
                </a:solidFill>
                <a:latin typeface="Arial"/>
                <a:ea typeface="Arial"/>
                <a:cs typeface="Arial"/>
                <a:sym typeface="Arial"/>
              </a:rPr>
              <a:t>Next Steps</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000"/>
              <a:buFont typeface="Arial"/>
              <a:buNone/>
            </a:pPr>
            <a:r>
              <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100"/>
              <a:buFont typeface="Arial"/>
              <a:buNone/>
            </a:pPr>
            <a:r>
              <a:rPr b="1" i="0" lang="en" sz="1000" u="none" cap="none" strike="noStrike">
                <a:solidFill>
                  <a:srgbClr val="EC9301"/>
                </a:solidFill>
                <a:latin typeface="Arial"/>
                <a:ea typeface="Arial"/>
                <a:cs typeface="Arial"/>
                <a:sym typeface="Arial"/>
              </a:rPr>
              <a:t>Links &amp; Materials</a:t>
            </a:r>
            <a:endParaRPr b="1" i="0" sz="1000" u="none" cap="none" strike="noStrike">
              <a:solidFill>
                <a:srgbClr val="EC930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800"/>
              <a:buFont typeface="Arial"/>
              <a:buNone/>
            </a:pPr>
            <a:r>
              <a:t/>
            </a:r>
            <a:endParaRPr b="0" i="0" sz="800" u="none" cap="none" strike="noStrike">
              <a:solidFill>
                <a:srgbClr val="0E101A"/>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p:nvPr/>
        </p:nvSpPr>
        <p:spPr>
          <a:xfrm>
            <a:off x="0" y="0"/>
            <a:ext cx="4000500" cy="5143500"/>
          </a:xfrm>
          <a:prstGeom prst="rect">
            <a:avLst/>
          </a:prstGeom>
          <a:solidFill>
            <a:srgbClr val="FF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9DAF8"/>
              </a:solidFill>
              <a:latin typeface="Arial"/>
              <a:ea typeface="Arial"/>
              <a:cs typeface="Arial"/>
              <a:sym typeface="Arial"/>
            </a:endParaRPr>
          </a:p>
        </p:txBody>
      </p:sp>
      <p:sp>
        <p:nvSpPr>
          <p:cNvPr id="105" name="Google Shape;105;p3"/>
          <p:cNvSpPr txBox="1"/>
          <p:nvPr/>
        </p:nvSpPr>
        <p:spPr>
          <a:xfrm>
            <a:off x="439756" y="349126"/>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 RESULTS</a:t>
            </a:r>
            <a:r>
              <a:rPr b="1" i="0" lang="en" sz="700" u="none" cap="none" strike="noStrike">
                <a:solidFill>
                  <a:srgbClr val="B7B7B7"/>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EXECUTIVE SUMMARY</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106" name="Google Shape;106;p3"/>
          <p:cNvSpPr txBox="1"/>
          <p:nvPr/>
        </p:nvSpPr>
        <p:spPr>
          <a:xfrm>
            <a:off x="406475" y="2070799"/>
            <a:ext cx="3307500" cy="272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Montserrat Medium"/>
                <a:ea typeface="Montserrat Medium"/>
                <a:cs typeface="Montserrat Medium"/>
                <a:sym typeface="Montserrat Medium"/>
              </a:rPr>
              <a:t>TvEyes has the first very successful product MMS with a dated design and limited functionality. Now - it is very hard to support existing customers and sell it to new clients.</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Montserrat Medium"/>
                <a:ea typeface="Montserrat Medium"/>
                <a:cs typeface="Montserrat Medium"/>
                <a:sym typeface="Montserrat Medium"/>
              </a:rPr>
              <a:t>Also, TvEyes company losing a ton of time when changing passwords for users and other trivial tasks that can be done with simple functionality.</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Montserrat Medium"/>
                <a:ea typeface="Montserrat Medium"/>
                <a:cs typeface="Montserrat Medium"/>
                <a:sym typeface="Montserrat Medium"/>
              </a:rPr>
              <a:t>Most parts of the users require Improvements in search capabilities to search specific markets or individual stations. New design (look and Feel) to have improved Ux patterns and Mobile version for check-in and sharing alerts and clips.</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p:txBody>
      </p:sp>
      <p:sp>
        <p:nvSpPr>
          <p:cNvPr id="107" name="Google Shape;107;p3"/>
          <p:cNvSpPr txBox="1"/>
          <p:nvPr>
            <p:ph idx="4294967295" type="ctrTitle"/>
          </p:nvPr>
        </p:nvSpPr>
        <p:spPr>
          <a:xfrm>
            <a:off x="406475" y="890674"/>
            <a:ext cx="3675900" cy="9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Problem </a:t>
            </a:r>
            <a:r>
              <a:rPr b="1" i="0" lang="en" sz="3000" u="none" cap="none" strike="noStrike">
                <a:solidFill>
                  <a:srgbClr val="CC0000"/>
                </a:solidFill>
                <a:latin typeface="Montserrat"/>
                <a:ea typeface="Montserrat"/>
                <a:cs typeface="Montserrat"/>
                <a:sym typeface="Montserrat"/>
              </a:rPr>
              <a:t>Summary</a:t>
            </a:r>
            <a:endParaRPr b="1" i="0" sz="3000" u="none" cap="none" strike="noStrike">
              <a:solidFill>
                <a:srgbClr val="CC0000"/>
              </a:solidFill>
              <a:latin typeface="Montserrat"/>
              <a:ea typeface="Montserrat"/>
              <a:cs typeface="Montserrat"/>
              <a:sym typeface="Montserrat"/>
            </a:endParaRPr>
          </a:p>
        </p:txBody>
      </p:sp>
      <p:sp>
        <p:nvSpPr>
          <p:cNvPr id="108" name="Google Shape;108;p3"/>
          <p:cNvSpPr txBox="1"/>
          <p:nvPr/>
        </p:nvSpPr>
        <p:spPr>
          <a:xfrm>
            <a:off x="4449052" y="972866"/>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SUCCESSFUL PRODUCTS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1 of 3</a:t>
            </a:r>
            <a:endParaRPr b="1" i="0" sz="1600" u="none" cap="none" strike="noStrike">
              <a:solidFill>
                <a:srgbClr val="000000"/>
              </a:solidFill>
              <a:latin typeface="Montserrat"/>
              <a:ea typeface="Montserrat"/>
              <a:cs typeface="Montserrat"/>
              <a:sym typeface="Montserrat"/>
            </a:endParaRPr>
          </a:p>
        </p:txBody>
      </p:sp>
      <p:sp>
        <p:nvSpPr>
          <p:cNvPr id="109" name="Google Shape;109;p3"/>
          <p:cNvSpPr txBox="1"/>
          <p:nvPr/>
        </p:nvSpPr>
        <p:spPr>
          <a:xfrm>
            <a:off x="4449052" y="1817101"/>
            <a:ext cx="183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USER INTERVIEWS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13</a:t>
            </a:r>
            <a:endParaRPr b="1" i="0" sz="1600" u="none" cap="none" strike="noStrike">
              <a:solidFill>
                <a:srgbClr val="000000"/>
              </a:solidFill>
              <a:latin typeface="Montserrat"/>
              <a:ea typeface="Montserrat"/>
              <a:cs typeface="Montserrat"/>
              <a:sym typeface="Montserrat"/>
            </a:endParaRPr>
          </a:p>
        </p:txBody>
      </p:sp>
      <p:grpSp>
        <p:nvGrpSpPr>
          <p:cNvPr id="110" name="Google Shape;110;p3"/>
          <p:cNvGrpSpPr/>
          <p:nvPr/>
        </p:nvGrpSpPr>
        <p:grpSpPr>
          <a:xfrm>
            <a:off x="0" y="-6656"/>
            <a:ext cx="9144000" cy="5150150"/>
            <a:chOff x="0" y="-6656"/>
            <a:chExt cx="9144000" cy="5150150"/>
          </a:xfrm>
        </p:grpSpPr>
        <p:sp>
          <p:nvSpPr>
            <p:cNvPr id="111" name="Google Shape;111;p3"/>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p:nvPr/>
          </p:nvSpPr>
          <p:spPr>
            <a:xfrm>
              <a:off x="40005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 name="Google Shape;124;p3"/>
          <p:cNvSpPr txBox="1"/>
          <p:nvPr/>
        </p:nvSpPr>
        <p:spPr>
          <a:xfrm>
            <a:off x="6505404" y="972866"/>
            <a:ext cx="22422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STAKEHOLDERS INTERVIEWED</a:t>
            </a:r>
            <a:endParaRPr b="1" i="0" sz="800" u="none" cap="none" strike="noStrike">
              <a:solidFill>
                <a:srgbClr val="000000"/>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8</a:t>
            </a:r>
            <a:endParaRPr b="1" i="0" sz="1600" u="none" cap="none" strike="noStrike">
              <a:solidFill>
                <a:srgbClr val="000000"/>
              </a:solidFill>
              <a:latin typeface="Montserrat"/>
              <a:ea typeface="Montserrat"/>
              <a:cs typeface="Montserrat"/>
              <a:sym typeface="Montserrat"/>
            </a:endParaRPr>
          </a:p>
        </p:txBody>
      </p:sp>
      <p:sp>
        <p:nvSpPr>
          <p:cNvPr id="125" name="Google Shape;125;p3"/>
          <p:cNvSpPr txBox="1"/>
          <p:nvPr/>
        </p:nvSpPr>
        <p:spPr>
          <a:xfrm>
            <a:off x="6518236" y="1786901"/>
            <a:ext cx="23457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800" u="none" cap="none" strike="noStrike">
                <a:solidFill>
                  <a:schemeClr val="dk1"/>
                </a:solidFill>
                <a:latin typeface="Montserrat"/>
                <a:ea typeface="Montserrat"/>
                <a:cs typeface="Montserrat"/>
                <a:sym typeface="Montserrat"/>
              </a:rPr>
              <a:t>ANALYZED FEATURES</a:t>
            </a:r>
            <a:r>
              <a:rPr b="1" lang="en" sz="800">
                <a:solidFill>
                  <a:schemeClr val="dk1"/>
                </a:solidFill>
                <a:latin typeface="Montserrat"/>
                <a:ea typeface="Montserrat"/>
                <a:cs typeface="Montserrat"/>
                <a:sym typeface="Montserrat"/>
              </a:rPr>
              <a:t>/ALL PRODUCTS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a:t>
            </a:r>
            <a:r>
              <a:rPr b="1" lang="en" sz="1600">
                <a:latin typeface="Montserrat"/>
                <a:ea typeface="Montserrat"/>
                <a:cs typeface="Montserrat"/>
                <a:sym typeface="Montserrat"/>
              </a:rPr>
              <a:t>45</a:t>
            </a:r>
            <a:endParaRPr b="1" i="0" sz="1600" u="none" cap="none" strike="noStrike">
              <a:solidFill>
                <a:srgbClr val="000000"/>
              </a:solidFill>
              <a:latin typeface="Montserrat"/>
              <a:ea typeface="Montserrat"/>
              <a:cs typeface="Montserrat"/>
              <a:sym typeface="Montserrat"/>
            </a:endParaRPr>
          </a:p>
        </p:txBody>
      </p:sp>
      <p:sp>
        <p:nvSpPr>
          <p:cNvPr id="126" name="Google Shape;126;p3"/>
          <p:cNvSpPr txBox="1"/>
          <p:nvPr/>
        </p:nvSpPr>
        <p:spPr>
          <a:xfrm>
            <a:off x="4449052" y="2661337"/>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WORKSHOPS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4</a:t>
            </a:r>
            <a:endParaRPr b="1" i="0" sz="1600" u="none" cap="none" strike="noStrike">
              <a:solidFill>
                <a:srgbClr val="000000"/>
              </a:solidFill>
              <a:latin typeface="Montserrat"/>
              <a:ea typeface="Montserrat"/>
              <a:cs typeface="Montserrat"/>
              <a:sym typeface="Montserrat"/>
            </a:endParaRPr>
          </a:p>
        </p:txBody>
      </p:sp>
      <p:sp>
        <p:nvSpPr>
          <p:cNvPr id="127" name="Google Shape;127;p3"/>
          <p:cNvSpPr txBox="1"/>
          <p:nvPr/>
        </p:nvSpPr>
        <p:spPr>
          <a:xfrm>
            <a:off x="4449052" y="3505572"/>
            <a:ext cx="183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solidFill>
                  <a:schemeClr val="dk1"/>
                </a:solidFill>
                <a:latin typeface="Montserrat"/>
                <a:ea typeface="Montserrat"/>
                <a:cs typeface="Montserrat"/>
                <a:sym typeface="Montserrat"/>
              </a:rPr>
              <a:t>PROBLEMS TO SOLVE IN MVP </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a:t>
            </a:r>
            <a:r>
              <a:rPr b="1" lang="en" sz="1600">
                <a:latin typeface="Montserrat"/>
                <a:ea typeface="Montserrat"/>
                <a:cs typeface="Montserrat"/>
                <a:sym typeface="Montserrat"/>
              </a:rPr>
              <a:t>3</a:t>
            </a:r>
            <a:endParaRPr b="1" i="0" sz="1600" u="none" cap="none" strike="noStrike">
              <a:solidFill>
                <a:srgbClr val="000000"/>
              </a:solidFill>
              <a:latin typeface="Montserrat"/>
              <a:ea typeface="Montserrat"/>
              <a:cs typeface="Montserrat"/>
              <a:sym typeface="Montserrat"/>
            </a:endParaRPr>
          </a:p>
        </p:txBody>
      </p:sp>
      <p:sp>
        <p:nvSpPr>
          <p:cNvPr id="128" name="Google Shape;128;p3"/>
          <p:cNvSpPr txBox="1"/>
          <p:nvPr/>
        </p:nvSpPr>
        <p:spPr>
          <a:xfrm>
            <a:off x="6505394" y="3505572"/>
            <a:ext cx="23457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DEFINED PAIN POINTS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±50</a:t>
            </a:r>
            <a:endParaRPr b="1" i="0" sz="1600" u="none" cap="none" strike="noStrike">
              <a:solidFill>
                <a:srgbClr val="000000"/>
              </a:solidFill>
              <a:latin typeface="Montserrat"/>
              <a:ea typeface="Montserrat"/>
              <a:cs typeface="Montserrat"/>
              <a:sym typeface="Montserrat"/>
            </a:endParaRPr>
          </a:p>
        </p:txBody>
      </p:sp>
      <p:sp>
        <p:nvSpPr>
          <p:cNvPr id="129" name="Google Shape;129;p3"/>
          <p:cNvSpPr txBox="1"/>
          <p:nvPr/>
        </p:nvSpPr>
        <p:spPr>
          <a:xfrm>
            <a:off x="6558427" y="2661337"/>
            <a:ext cx="1806000" cy="45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800"/>
              <a:buFont typeface="Arial"/>
              <a:buNone/>
            </a:pPr>
            <a:r>
              <a:rPr b="1" lang="en" sz="800">
                <a:solidFill>
                  <a:schemeClr val="dk1"/>
                </a:solidFill>
                <a:latin typeface="Montserrat"/>
                <a:ea typeface="Montserrat"/>
                <a:cs typeface="Montserrat"/>
                <a:sym typeface="Montserrat"/>
              </a:rPr>
              <a:t>PROBLEM STATEMENTS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±9</a:t>
            </a:r>
            <a:endParaRPr b="1" i="0" sz="1600" u="none" cap="none" strike="noStrike">
              <a:solidFill>
                <a:srgbClr val="000000"/>
              </a:solidFill>
              <a:latin typeface="Montserrat"/>
              <a:ea typeface="Montserrat"/>
              <a:cs typeface="Montserrat"/>
              <a:sym typeface="Montserrat"/>
            </a:endParaRPr>
          </a:p>
        </p:txBody>
      </p:sp>
      <p:pic>
        <p:nvPicPr>
          <p:cNvPr id="130" name="Google Shape;130;p3"/>
          <p:cNvPicPr preferRelativeResize="0"/>
          <p:nvPr/>
        </p:nvPicPr>
        <p:blipFill>
          <a:blip r:embed="rId3">
            <a:alphaModFix/>
          </a:blip>
          <a:stretch>
            <a:fillRect/>
          </a:stretch>
        </p:blipFill>
        <p:spPr>
          <a:xfrm>
            <a:off x="7814659" y="3965476"/>
            <a:ext cx="1329334" cy="1178024"/>
          </a:xfrm>
          <a:prstGeom prst="rect">
            <a:avLst/>
          </a:prstGeom>
          <a:noFill/>
          <a:ln>
            <a:noFill/>
          </a:ln>
        </p:spPr>
      </p:pic>
      <p:pic>
        <p:nvPicPr>
          <p:cNvPr id="131" name="Google Shape;131;p3"/>
          <p:cNvPicPr preferRelativeResize="0"/>
          <p:nvPr/>
        </p:nvPicPr>
        <p:blipFill>
          <a:blip r:embed="rId4">
            <a:alphaModFix/>
          </a:blip>
          <a:stretch>
            <a:fillRect/>
          </a:stretch>
        </p:blipFill>
        <p:spPr>
          <a:xfrm>
            <a:off x="4042811" y="25643"/>
            <a:ext cx="1034201" cy="1032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p:nvPr/>
        </p:nvSpPr>
        <p:spPr>
          <a:xfrm>
            <a:off x="0" y="0"/>
            <a:ext cx="4000500" cy="5143500"/>
          </a:xfrm>
          <a:prstGeom prst="rect">
            <a:avLst/>
          </a:prstGeom>
          <a:solidFill>
            <a:srgbClr val="EEFF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9DAF8"/>
              </a:solidFill>
              <a:latin typeface="Arial"/>
              <a:ea typeface="Arial"/>
              <a:cs typeface="Arial"/>
              <a:sym typeface="Arial"/>
            </a:endParaRPr>
          </a:p>
        </p:txBody>
      </p:sp>
      <p:sp>
        <p:nvSpPr>
          <p:cNvPr id="137" name="Google Shape;137;p4"/>
          <p:cNvSpPr txBox="1"/>
          <p:nvPr/>
        </p:nvSpPr>
        <p:spPr>
          <a:xfrm>
            <a:off x="439756" y="349126"/>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 RESULTS</a:t>
            </a:r>
            <a:r>
              <a:rPr b="1" i="0" lang="en" sz="700" u="none" cap="none" strike="noStrike">
                <a:solidFill>
                  <a:srgbClr val="B7B7B7"/>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EXECUTIVE SUMMARY</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138" name="Google Shape;138;p4"/>
          <p:cNvSpPr txBox="1"/>
          <p:nvPr/>
        </p:nvSpPr>
        <p:spPr>
          <a:xfrm>
            <a:off x="406475" y="1859900"/>
            <a:ext cx="3377700" cy="324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lang="en" sz="900">
                <a:solidFill>
                  <a:schemeClr val="dk1"/>
                </a:solidFill>
              </a:rPr>
              <a:t>This project aims to design a new User Experience with the most important functions from the MMS with improved UX, and some functions from the Fusion product. Users must have the possibility to reset/change passwords on their own.</a:t>
            </a:r>
            <a:br>
              <a:rPr lang="en" sz="900">
                <a:solidFill>
                  <a:schemeClr val="dk1"/>
                </a:solidFill>
              </a:rPr>
            </a:br>
            <a:endParaRPr sz="900">
              <a:solidFill>
                <a:schemeClr val="dk1"/>
              </a:solidFill>
            </a:endParaRPr>
          </a:p>
          <a:p>
            <a:pPr indent="0" lvl="0" marL="0" marR="0" rtl="0" algn="l">
              <a:lnSpc>
                <a:spcPct val="115000"/>
              </a:lnSpc>
              <a:spcBef>
                <a:spcPts val="0"/>
              </a:spcBef>
              <a:spcAft>
                <a:spcPts val="0"/>
              </a:spcAft>
              <a:buClr>
                <a:schemeClr val="dk1"/>
              </a:buClr>
              <a:buSzPts val="1100"/>
              <a:buFont typeface="Arial"/>
              <a:buNone/>
            </a:pPr>
            <a:r>
              <a:rPr b="1" lang="en" sz="900">
                <a:solidFill>
                  <a:schemeClr val="dk1"/>
                </a:solidFill>
              </a:rPr>
              <a:t>MVP</a:t>
            </a:r>
            <a:r>
              <a:rPr lang="en" sz="900">
                <a:solidFill>
                  <a:schemeClr val="dk1"/>
                </a:solidFill>
              </a:rPr>
              <a:t> - is a product with enough features to attract early-adopter customers and validate a product idea created based on </a:t>
            </a:r>
            <a:r>
              <a:rPr b="1" lang="en" sz="900">
                <a:solidFill>
                  <a:schemeClr val="dk1"/>
                </a:solidFill>
              </a:rPr>
              <a:t>CJM (±30 steps)</a:t>
            </a:r>
            <a:r>
              <a:rPr lang="en" sz="900">
                <a:solidFill>
                  <a:schemeClr val="dk1"/>
                </a:solidFill>
              </a:rPr>
              <a:t> </a:t>
            </a:r>
            <a:r>
              <a:rPr lang="en" sz="900">
                <a:solidFill>
                  <a:schemeClr val="dk1"/>
                </a:solidFill>
              </a:rPr>
              <a:t>garnered</a:t>
            </a:r>
            <a:r>
              <a:rPr lang="en" sz="900">
                <a:solidFill>
                  <a:schemeClr val="dk1"/>
                </a:solidFill>
              </a:rPr>
              <a:t> during Discovery </a:t>
            </a:r>
            <a:r>
              <a:rPr lang="en" sz="900">
                <a:solidFill>
                  <a:schemeClr val="dk1"/>
                </a:solidFill>
              </a:rPr>
              <a:t>Phase</a:t>
            </a:r>
            <a:r>
              <a:rPr lang="en" sz="900">
                <a:solidFill>
                  <a:schemeClr val="dk1"/>
                </a:solidFill>
              </a:rPr>
              <a:t>. </a:t>
            </a:r>
            <a:endParaRPr sz="900">
              <a:solidFill>
                <a:schemeClr val="dk1"/>
              </a:solidFill>
            </a:endParaRPr>
          </a:p>
          <a:p>
            <a:pPr indent="0" lvl="0" marL="0" marR="0" rtl="0" algn="l">
              <a:lnSpc>
                <a:spcPct val="115000"/>
              </a:lnSpc>
              <a:spcBef>
                <a:spcPts val="0"/>
              </a:spcBef>
              <a:spcAft>
                <a:spcPts val="0"/>
              </a:spcAft>
              <a:buClr>
                <a:schemeClr val="dk1"/>
              </a:buClr>
              <a:buSzPts val="1100"/>
              <a:buFont typeface="Arial"/>
              <a:buNone/>
            </a:pPr>
            <a:br>
              <a:rPr lang="en" sz="900">
                <a:solidFill>
                  <a:schemeClr val="dk1"/>
                </a:solidFill>
              </a:rPr>
            </a:br>
            <a:r>
              <a:rPr b="1" lang="en" sz="900">
                <a:solidFill>
                  <a:schemeClr val="dk1"/>
                </a:solidFill>
              </a:rPr>
              <a:t>MVP should cover:</a:t>
            </a:r>
            <a:br>
              <a:rPr lang="en" sz="900">
                <a:solidFill>
                  <a:schemeClr val="dk1"/>
                </a:solidFill>
              </a:rPr>
            </a:br>
            <a:r>
              <a:rPr lang="en" sz="900">
                <a:solidFill>
                  <a:schemeClr val="dk1"/>
                </a:solidFill>
              </a:rPr>
              <a:t>CJM 30 steps (</a:t>
            </a:r>
            <a:r>
              <a:rPr lang="en" sz="900">
                <a:solidFill>
                  <a:schemeClr val="dk1"/>
                </a:solidFill>
              </a:rPr>
              <a:t>Desktop), </a:t>
            </a:r>
            <a:r>
              <a:rPr lang="en" sz="900">
                <a:solidFill>
                  <a:schemeClr val="dk1"/>
                </a:solidFill>
              </a:rPr>
              <a:t>CJM ±12 steps (Mobile)</a:t>
            </a:r>
            <a:endParaRPr sz="900">
              <a:solidFill>
                <a:schemeClr val="dk1"/>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chemeClr val="dk1"/>
              </a:solidFill>
            </a:endParaRPr>
          </a:p>
          <a:p>
            <a:pPr indent="0" lvl="0" marL="0" marR="0" rtl="0" algn="l">
              <a:lnSpc>
                <a:spcPct val="115000"/>
              </a:lnSpc>
              <a:spcBef>
                <a:spcPts val="0"/>
              </a:spcBef>
              <a:spcAft>
                <a:spcPts val="0"/>
              </a:spcAft>
              <a:buClr>
                <a:schemeClr val="dk1"/>
              </a:buClr>
              <a:buSzPts val="1100"/>
              <a:buFont typeface="Arial"/>
              <a:buNone/>
            </a:pPr>
            <a:r>
              <a:rPr b="1" i="0" lang="en" sz="900" u="none" cap="none" strike="noStrike">
                <a:solidFill>
                  <a:schemeClr val="dk1"/>
                </a:solidFill>
                <a:latin typeface="Arial"/>
                <a:ea typeface="Arial"/>
                <a:cs typeface="Arial"/>
                <a:sym typeface="Arial"/>
              </a:rPr>
              <a:t>Design System (DS)</a:t>
            </a:r>
            <a:r>
              <a:rPr b="0" i="0" lang="en" sz="900" u="none" cap="none" strike="noStrike">
                <a:solidFill>
                  <a:schemeClr val="dk1"/>
                </a:solidFill>
                <a:latin typeface="Arial"/>
                <a:ea typeface="Arial"/>
                <a:cs typeface="Arial"/>
                <a:sym typeface="Arial"/>
              </a:rPr>
              <a:t> - is a new solution with designed and developed components based on the framework to handle everything consistently.  </a:t>
            </a: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rPr b="1" i="0" lang="en" sz="900" u="none" cap="none" strike="noStrike">
                <a:solidFill>
                  <a:schemeClr val="dk1"/>
                </a:solidFill>
                <a:latin typeface="Arial"/>
                <a:ea typeface="Arial"/>
                <a:cs typeface="Arial"/>
                <a:sym typeface="Arial"/>
              </a:rPr>
              <a:t>Technologies:</a:t>
            </a:r>
            <a:r>
              <a:rPr b="0" i="0" lang="en" sz="900" u="none" cap="none" strike="noStrike">
                <a:solidFill>
                  <a:schemeClr val="dk1"/>
                </a:solidFill>
                <a:latin typeface="Arial"/>
                <a:ea typeface="Arial"/>
                <a:cs typeface="Arial"/>
                <a:sym typeface="Arial"/>
              </a:rPr>
              <a:t> Web Product, Angular Material, Laptops </a:t>
            </a:r>
            <a:r>
              <a:rPr lang="en" sz="900">
                <a:solidFill>
                  <a:schemeClr val="dk1"/>
                </a:solidFill>
              </a:rPr>
              <a:t>1280x720 - Desktop 1920x1080</a:t>
            </a: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chemeClr val="dk1"/>
              </a:solidFill>
              <a:latin typeface="Arial"/>
              <a:ea typeface="Arial"/>
              <a:cs typeface="Arial"/>
              <a:sym typeface="Arial"/>
            </a:endParaRPr>
          </a:p>
        </p:txBody>
      </p:sp>
      <p:sp>
        <p:nvSpPr>
          <p:cNvPr id="139" name="Google Shape;139;p4"/>
          <p:cNvSpPr txBox="1"/>
          <p:nvPr>
            <p:ph idx="4294967295" type="ctrTitle"/>
          </p:nvPr>
        </p:nvSpPr>
        <p:spPr>
          <a:xfrm>
            <a:off x="406475" y="715399"/>
            <a:ext cx="3675900" cy="9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Solution </a:t>
            </a:r>
            <a:r>
              <a:rPr b="1" i="0" lang="en" sz="3000" u="none" cap="none" strike="noStrike">
                <a:solidFill>
                  <a:srgbClr val="38761D"/>
                </a:solidFill>
                <a:latin typeface="Montserrat"/>
                <a:ea typeface="Montserrat"/>
                <a:cs typeface="Montserrat"/>
                <a:sym typeface="Montserrat"/>
              </a:rPr>
              <a:t>Summary</a:t>
            </a:r>
            <a:endParaRPr b="1" i="0" sz="3000" u="none" cap="none" strike="noStrike">
              <a:solidFill>
                <a:srgbClr val="38761D"/>
              </a:solidFill>
              <a:latin typeface="Montserrat"/>
              <a:ea typeface="Montserrat"/>
              <a:cs typeface="Montserrat"/>
              <a:sym typeface="Montserrat"/>
            </a:endParaRPr>
          </a:p>
        </p:txBody>
      </p:sp>
      <p:sp>
        <p:nvSpPr>
          <p:cNvPr id="140" name="Google Shape;140;p4"/>
          <p:cNvSpPr txBox="1"/>
          <p:nvPr/>
        </p:nvSpPr>
        <p:spPr>
          <a:xfrm>
            <a:off x="4495728" y="434423"/>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DESKTOP </a:t>
            </a:r>
            <a:r>
              <a:rPr b="1" i="0" lang="en" sz="800" u="none" cap="none" strike="noStrike">
                <a:solidFill>
                  <a:srgbClr val="000000"/>
                </a:solidFill>
                <a:latin typeface="Montserrat"/>
                <a:ea typeface="Montserrat"/>
                <a:cs typeface="Montserrat"/>
                <a:sym typeface="Montserrat"/>
              </a:rPr>
              <a:t>PRODUCT</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1</a:t>
            </a:r>
            <a:endParaRPr b="1" i="0" sz="1600" u="none" cap="none" strike="noStrike">
              <a:solidFill>
                <a:srgbClr val="000000"/>
              </a:solidFill>
              <a:latin typeface="Montserrat"/>
              <a:ea typeface="Montserrat"/>
              <a:cs typeface="Montserrat"/>
              <a:sym typeface="Montserrat"/>
            </a:endParaRPr>
          </a:p>
        </p:txBody>
      </p:sp>
      <p:grpSp>
        <p:nvGrpSpPr>
          <p:cNvPr id="141" name="Google Shape;141;p4"/>
          <p:cNvGrpSpPr/>
          <p:nvPr/>
        </p:nvGrpSpPr>
        <p:grpSpPr>
          <a:xfrm>
            <a:off x="0" y="-6656"/>
            <a:ext cx="9144000" cy="5150150"/>
            <a:chOff x="0" y="-6656"/>
            <a:chExt cx="9144000" cy="5150150"/>
          </a:xfrm>
        </p:grpSpPr>
        <p:sp>
          <p:nvSpPr>
            <p:cNvPr id="142" name="Google Shape;142;p4"/>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4"/>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4"/>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
            <p:cNvSpPr/>
            <p:nvPr/>
          </p:nvSpPr>
          <p:spPr>
            <a:xfrm>
              <a:off x="40005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5" name="Google Shape;155;p4"/>
          <p:cNvSpPr txBox="1"/>
          <p:nvPr/>
        </p:nvSpPr>
        <p:spPr>
          <a:xfrm>
            <a:off x="6476991" y="1249363"/>
            <a:ext cx="23457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solidFill>
                  <a:schemeClr val="dk1"/>
                </a:solidFill>
                <a:latin typeface="Montserrat"/>
                <a:ea typeface="Montserrat"/>
                <a:cs typeface="Montserrat"/>
                <a:sym typeface="Montserrat"/>
              </a:rPr>
              <a:t>REAL USER GROUPS IN MVP</a:t>
            </a:r>
            <a:endParaRPr b="1" i="0" sz="8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600"/>
              <a:buFont typeface="Arial"/>
              <a:buNone/>
            </a:pPr>
            <a:r>
              <a:rPr b="1" lang="en" sz="1600">
                <a:solidFill>
                  <a:schemeClr val="dk1"/>
                </a:solidFill>
                <a:latin typeface="Montserrat"/>
                <a:ea typeface="Montserrat"/>
                <a:cs typeface="Montserrat"/>
                <a:sym typeface="Montserrat"/>
              </a:rPr>
              <a:t>2</a:t>
            </a:r>
            <a:endParaRPr b="1" i="0" sz="1600" u="none" cap="none" strike="noStrike">
              <a:solidFill>
                <a:srgbClr val="000000"/>
              </a:solidFill>
              <a:latin typeface="Montserrat"/>
              <a:ea typeface="Montserrat"/>
              <a:cs typeface="Montserrat"/>
              <a:sym typeface="Montserrat"/>
            </a:endParaRPr>
          </a:p>
        </p:txBody>
      </p:sp>
      <p:sp>
        <p:nvSpPr>
          <p:cNvPr id="156" name="Google Shape;156;p4"/>
          <p:cNvSpPr txBox="1"/>
          <p:nvPr/>
        </p:nvSpPr>
        <p:spPr>
          <a:xfrm>
            <a:off x="4465800" y="1994185"/>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800" u="none" cap="none" strike="noStrike">
                <a:solidFill>
                  <a:schemeClr val="dk1"/>
                </a:solidFill>
                <a:latin typeface="Montserrat"/>
                <a:ea typeface="Montserrat"/>
                <a:cs typeface="Montserrat"/>
                <a:sym typeface="Montserrat"/>
              </a:rPr>
              <a:t>CUSTOMER JOURNEYS</a:t>
            </a:r>
            <a:endParaRPr b="1" i="0" sz="8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rgbClr val="000000"/>
              </a:buClr>
              <a:buSzPts val="1600"/>
              <a:buFont typeface="Arial"/>
              <a:buNone/>
            </a:pPr>
            <a:r>
              <a:rPr b="1" i="0" lang="en" sz="1600" u="none" cap="none" strike="noStrike">
                <a:solidFill>
                  <a:schemeClr val="dk1"/>
                </a:solidFill>
                <a:latin typeface="Montserrat"/>
                <a:ea typeface="Montserrat"/>
                <a:cs typeface="Montserrat"/>
                <a:sym typeface="Montserrat"/>
              </a:rPr>
              <a:t>±</a:t>
            </a:r>
            <a:r>
              <a:rPr b="1" lang="en" sz="1600">
                <a:solidFill>
                  <a:schemeClr val="dk1"/>
                </a:solidFill>
                <a:latin typeface="Montserrat"/>
                <a:ea typeface="Montserrat"/>
                <a:cs typeface="Montserrat"/>
                <a:sym typeface="Montserrat"/>
              </a:rPr>
              <a:t>2</a:t>
            </a:r>
            <a:endParaRPr b="1" i="0" sz="1600" u="none" cap="none" strike="noStrike">
              <a:solidFill>
                <a:srgbClr val="000000"/>
              </a:solidFill>
              <a:latin typeface="Montserrat"/>
              <a:ea typeface="Montserrat"/>
              <a:cs typeface="Montserrat"/>
              <a:sym typeface="Montserrat"/>
            </a:endParaRPr>
          </a:p>
        </p:txBody>
      </p:sp>
      <p:sp>
        <p:nvSpPr>
          <p:cNvPr id="157" name="Google Shape;157;p4"/>
          <p:cNvSpPr txBox="1"/>
          <p:nvPr/>
        </p:nvSpPr>
        <p:spPr>
          <a:xfrm>
            <a:off x="6476991" y="1994185"/>
            <a:ext cx="2345700" cy="45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CUSTOMER JOURNEYS STEPS</a:t>
            </a:r>
            <a:endParaRPr b="1" i="0" sz="800" u="none" cap="none" strike="noStrike">
              <a:solidFill>
                <a:schemeClr val="dk1"/>
              </a:solidFill>
              <a:latin typeface="Montserrat"/>
              <a:ea typeface="Montserrat"/>
              <a:cs typeface="Montserrat"/>
              <a:sym typeface="Montserrat"/>
            </a:endParaRPr>
          </a:p>
          <a:p>
            <a:pPr indent="0" lvl="0" marL="0" marR="0" rtl="0" algn="l">
              <a:lnSpc>
                <a:spcPct val="125000"/>
              </a:lnSpc>
              <a:spcBef>
                <a:spcPts val="0"/>
              </a:spcBef>
              <a:spcAft>
                <a:spcPts val="0"/>
              </a:spcAft>
              <a:buClr>
                <a:schemeClr val="dk1"/>
              </a:buClr>
              <a:buSzPts val="1100"/>
              <a:buFont typeface="Arial"/>
              <a:buNone/>
            </a:pPr>
            <a:r>
              <a:rPr b="1" i="0" lang="en" sz="1600" u="none" cap="none" strike="noStrike">
                <a:solidFill>
                  <a:schemeClr val="dk1"/>
                </a:solidFill>
                <a:latin typeface="Montserrat"/>
                <a:ea typeface="Montserrat"/>
                <a:cs typeface="Montserrat"/>
                <a:sym typeface="Montserrat"/>
              </a:rPr>
              <a:t>±</a:t>
            </a:r>
            <a:r>
              <a:rPr b="1" lang="en" sz="1600">
                <a:solidFill>
                  <a:schemeClr val="dk1"/>
                </a:solidFill>
                <a:latin typeface="Montserrat"/>
                <a:ea typeface="Montserrat"/>
                <a:cs typeface="Montserrat"/>
                <a:sym typeface="Montserrat"/>
              </a:rPr>
              <a:t>30</a:t>
            </a:r>
            <a:endParaRPr b="1" i="0" sz="800" u="none" cap="none" strike="noStrike">
              <a:solidFill>
                <a:schemeClr val="dk1"/>
              </a:solidFill>
              <a:latin typeface="Montserrat"/>
              <a:ea typeface="Montserrat"/>
              <a:cs typeface="Montserrat"/>
              <a:sym typeface="Montserrat"/>
            </a:endParaRPr>
          </a:p>
        </p:txBody>
      </p:sp>
      <p:sp>
        <p:nvSpPr>
          <p:cNvPr id="158" name="Google Shape;158;p4"/>
          <p:cNvSpPr txBox="1"/>
          <p:nvPr/>
        </p:nvSpPr>
        <p:spPr>
          <a:xfrm>
            <a:off x="4450925" y="4237362"/>
            <a:ext cx="183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800" u="none" cap="none" strike="noStrike">
                <a:solidFill>
                  <a:schemeClr val="dk1"/>
                </a:solidFill>
                <a:latin typeface="Montserrat"/>
                <a:ea typeface="Montserrat"/>
                <a:cs typeface="Montserrat"/>
                <a:sym typeface="Montserrat"/>
              </a:rPr>
              <a:t>IDEAS &amp; SOLUTIONS</a:t>
            </a:r>
            <a:endParaRPr b="1" i="0" sz="800" u="none" cap="none" strike="noStrike">
              <a:solidFill>
                <a:schemeClr val="dk1"/>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chemeClr val="dk1"/>
                </a:solidFill>
                <a:latin typeface="Montserrat"/>
                <a:ea typeface="Montserrat"/>
                <a:cs typeface="Montserrat"/>
                <a:sym typeface="Montserrat"/>
              </a:rPr>
              <a:t>±80</a:t>
            </a:r>
            <a:endParaRPr b="1" i="0" sz="800" u="none" cap="none" strike="noStrike">
              <a:solidFill>
                <a:srgbClr val="000000"/>
              </a:solidFill>
              <a:latin typeface="Montserrat"/>
              <a:ea typeface="Montserrat"/>
              <a:cs typeface="Montserrat"/>
              <a:sym typeface="Montserrat"/>
            </a:endParaRPr>
          </a:p>
        </p:txBody>
      </p:sp>
      <p:sp>
        <p:nvSpPr>
          <p:cNvPr id="159" name="Google Shape;159;p4"/>
          <p:cNvSpPr txBox="1"/>
          <p:nvPr/>
        </p:nvSpPr>
        <p:spPr>
          <a:xfrm>
            <a:off x="6476991" y="4237362"/>
            <a:ext cx="23457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DESIGNERS</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600">
                <a:latin typeface="Montserrat"/>
                <a:ea typeface="Montserrat"/>
                <a:cs typeface="Montserrat"/>
                <a:sym typeface="Montserrat"/>
              </a:rPr>
              <a:t>2</a:t>
            </a:r>
            <a:r>
              <a:rPr b="1" i="0" lang="en" sz="1600" u="none" cap="none" strike="noStrike">
                <a:solidFill>
                  <a:srgbClr val="000000"/>
                </a:solidFill>
                <a:latin typeface="Montserrat"/>
                <a:ea typeface="Montserrat"/>
                <a:cs typeface="Montserrat"/>
                <a:sym typeface="Montserrat"/>
              </a:rPr>
              <a:t> for ±</a:t>
            </a:r>
            <a:r>
              <a:rPr b="1" lang="en" sz="1600">
                <a:latin typeface="Montserrat"/>
                <a:ea typeface="Montserrat"/>
                <a:cs typeface="Montserrat"/>
                <a:sym typeface="Montserrat"/>
              </a:rPr>
              <a:t>6</a:t>
            </a:r>
            <a:r>
              <a:rPr b="1" i="0" lang="en" sz="1600" u="none" cap="none" strike="noStrike">
                <a:solidFill>
                  <a:srgbClr val="000000"/>
                </a:solidFill>
                <a:latin typeface="Montserrat"/>
                <a:ea typeface="Montserrat"/>
                <a:cs typeface="Montserrat"/>
                <a:sym typeface="Montserrat"/>
              </a:rPr>
              <a:t> Months</a:t>
            </a:r>
            <a:endParaRPr b="1" i="0" sz="1600" u="none" cap="none" strike="noStrike">
              <a:solidFill>
                <a:srgbClr val="000000"/>
              </a:solidFill>
              <a:latin typeface="Montserrat"/>
              <a:ea typeface="Montserrat"/>
              <a:cs typeface="Montserrat"/>
              <a:sym typeface="Montserrat"/>
            </a:endParaRPr>
          </a:p>
        </p:txBody>
      </p:sp>
      <p:sp>
        <p:nvSpPr>
          <p:cNvPr id="160" name="Google Shape;160;p4"/>
          <p:cNvSpPr/>
          <p:nvPr/>
        </p:nvSpPr>
        <p:spPr>
          <a:xfrm>
            <a:off x="4000500" y="14384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p:nvPr/>
        </p:nvSpPr>
        <p:spPr>
          <a:xfrm>
            <a:off x="4339350" y="13945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
          <p:cNvSpPr txBox="1"/>
          <p:nvPr/>
        </p:nvSpPr>
        <p:spPr>
          <a:xfrm>
            <a:off x="6476991" y="434423"/>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MOBILE</a:t>
            </a:r>
            <a:r>
              <a:rPr b="1" lang="en" sz="800">
                <a:latin typeface="Montserrat"/>
                <a:ea typeface="Montserrat"/>
                <a:cs typeface="Montserrat"/>
                <a:sym typeface="Montserrat"/>
              </a:rPr>
              <a:t> </a:t>
            </a:r>
            <a:r>
              <a:rPr b="1" i="0" lang="en" sz="800" u="none" cap="none" strike="noStrike">
                <a:solidFill>
                  <a:srgbClr val="000000"/>
                </a:solidFill>
                <a:latin typeface="Montserrat"/>
                <a:ea typeface="Montserrat"/>
                <a:cs typeface="Montserrat"/>
                <a:sym typeface="Montserrat"/>
              </a:rPr>
              <a:t>PRODUCT</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1</a:t>
            </a:r>
            <a:endParaRPr b="1" i="0" sz="1600" u="none" cap="none" strike="noStrike">
              <a:solidFill>
                <a:srgbClr val="000000"/>
              </a:solidFill>
              <a:latin typeface="Montserrat"/>
              <a:ea typeface="Montserrat"/>
              <a:cs typeface="Montserrat"/>
              <a:sym typeface="Montserrat"/>
            </a:endParaRPr>
          </a:p>
        </p:txBody>
      </p:sp>
      <p:sp>
        <p:nvSpPr>
          <p:cNvPr id="163" name="Google Shape;163;p4"/>
          <p:cNvSpPr txBox="1"/>
          <p:nvPr/>
        </p:nvSpPr>
        <p:spPr>
          <a:xfrm>
            <a:off x="4495728" y="1261449"/>
            <a:ext cx="180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800"/>
              <a:buFont typeface="Arial"/>
              <a:buNone/>
            </a:pPr>
            <a:r>
              <a:rPr b="1" lang="en" sz="800">
                <a:latin typeface="Montserrat"/>
                <a:ea typeface="Montserrat"/>
                <a:cs typeface="Montserrat"/>
                <a:sym typeface="Montserrat"/>
              </a:rPr>
              <a:t>DESIGN SYSTEM</a:t>
            </a:r>
            <a:endParaRPr b="1" i="0" sz="800" u="none" cap="none" strike="noStrike">
              <a:solidFill>
                <a:srgbClr val="000000"/>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i="0" lang="en" sz="1600" u="none" cap="none" strike="noStrike">
                <a:solidFill>
                  <a:srgbClr val="000000"/>
                </a:solidFill>
                <a:latin typeface="Montserrat"/>
                <a:ea typeface="Montserrat"/>
                <a:cs typeface="Montserrat"/>
                <a:sym typeface="Montserrat"/>
              </a:rPr>
              <a:t>1</a:t>
            </a:r>
            <a:endParaRPr b="1" i="0" sz="1600" u="none" cap="none" strike="noStrike">
              <a:solidFill>
                <a:srgbClr val="000000"/>
              </a:solidFill>
              <a:latin typeface="Montserrat"/>
              <a:ea typeface="Montserrat"/>
              <a:cs typeface="Montserrat"/>
              <a:sym typeface="Montserrat"/>
            </a:endParaRPr>
          </a:p>
        </p:txBody>
      </p:sp>
      <p:pic>
        <p:nvPicPr>
          <p:cNvPr id="164" name="Google Shape;164;p4"/>
          <p:cNvPicPr preferRelativeResize="0"/>
          <p:nvPr/>
        </p:nvPicPr>
        <p:blipFill>
          <a:blip r:embed="rId3">
            <a:alphaModFix/>
          </a:blip>
          <a:stretch>
            <a:fillRect/>
          </a:stretch>
        </p:blipFill>
        <p:spPr>
          <a:xfrm>
            <a:off x="8413325" y="4359450"/>
            <a:ext cx="691025" cy="691025"/>
          </a:xfrm>
          <a:prstGeom prst="rect">
            <a:avLst/>
          </a:prstGeom>
          <a:noFill/>
          <a:ln>
            <a:noFill/>
          </a:ln>
        </p:spPr>
      </p:pic>
      <p:pic>
        <p:nvPicPr>
          <p:cNvPr id="165" name="Google Shape;165;p4"/>
          <p:cNvPicPr preferRelativeResize="0"/>
          <p:nvPr/>
        </p:nvPicPr>
        <p:blipFill>
          <a:blip r:embed="rId4">
            <a:alphaModFix/>
          </a:blip>
          <a:stretch>
            <a:fillRect/>
          </a:stretch>
        </p:blipFill>
        <p:spPr>
          <a:xfrm>
            <a:off x="8215475" y="3553925"/>
            <a:ext cx="844550" cy="837751"/>
          </a:xfrm>
          <a:prstGeom prst="rect">
            <a:avLst/>
          </a:prstGeom>
          <a:noFill/>
          <a:ln>
            <a:noFill/>
          </a:ln>
        </p:spPr>
      </p:pic>
      <p:pic>
        <p:nvPicPr>
          <p:cNvPr id="166" name="Google Shape;166;p4"/>
          <p:cNvPicPr preferRelativeResize="0"/>
          <p:nvPr/>
        </p:nvPicPr>
        <p:blipFill>
          <a:blip r:embed="rId5">
            <a:alphaModFix/>
          </a:blip>
          <a:stretch>
            <a:fillRect/>
          </a:stretch>
        </p:blipFill>
        <p:spPr>
          <a:xfrm>
            <a:off x="8363850" y="2085200"/>
            <a:ext cx="740501" cy="1440399"/>
          </a:xfrm>
          <a:prstGeom prst="rect">
            <a:avLst/>
          </a:prstGeom>
          <a:noFill/>
          <a:ln>
            <a:noFill/>
          </a:ln>
        </p:spPr>
      </p:pic>
      <p:sp>
        <p:nvSpPr>
          <p:cNvPr id="167" name="Google Shape;167;p4"/>
          <p:cNvSpPr txBox="1"/>
          <p:nvPr/>
        </p:nvSpPr>
        <p:spPr>
          <a:xfrm>
            <a:off x="4450925" y="2664688"/>
            <a:ext cx="198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DESKTOP OS</a:t>
            </a:r>
            <a:endParaRPr b="1" i="0" sz="800" u="none" cap="none" strike="noStrike">
              <a:solidFill>
                <a:schemeClr val="dk1"/>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000">
                <a:solidFill>
                  <a:schemeClr val="dk1"/>
                </a:solidFill>
                <a:latin typeface="Montserrat"/>
                <a:ea typeface="Montserrat"/>
                <a:cs typeface="Montserrat"/>
                <a:sym typeface="Montserrat"/>
              </a:rPr>
              <a:t>WINDOWS, MACOS,</a:t>
            </a:r>
            <a:endParaRPr b="1" i="0" sz="400" u="none" cap="none" strike="noStrike">
              <a:solidFill>
                <a:srgbClr val="000000"/>
              </a:solidFill>
              <a:latin typeface="Montserrat"/>
              <a:ea typeface="Montserrat"/>
              <a:cs typeface="Montserrat"/>
              <a:sym typeface="Montserrat"/>
            </a:endParaRPr>
          </a:p>
        </p:txBody>
      </p:sp>
      <p:sp>
        <p:nvSpPr>
          <p:cNvPr id="168" name="Google Shape;168;p4"/>
          <p:cNvSpPr txBox="1"/>
          <p:nvPr/>
        </p:nvSpPr>
        <p:spPr>
          <a:xfrm>
            <a:off x="6476991" y="2664688"/>
            <a:ext cx="24513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RESOLUTIONS LAPTOPS</a:t>
            </a:r>
            <a:endParaRPr b="1" i="0" sz="800" u="none" cap="none" strike="noStrike">
              <a:solidFill>
                <a:schemeClr val="dk1"/>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000">
                <a:solidFill>
                  <a:schemeClr val="dk1"/>
                </a:solidFill>
                <a:latin typeface="Montserrat"/>
                <a:ea typeface="Montserrat"/>
                <a:cs typeface="Montserrat"/>
                <a:sym typeface="Montserrat"/>
              </a:rPr>
              <a:t>1280x720</a:t>
            </a:r>
            <a:endParaRPr b="1" i="0" sz="1000" u="none" cap="none" strike="noStrike">
              <a:solidFill>
                <a:srgbClr val="000000"/>
              </a:solidFill>
              <a:latin typeface="Montserrat"/>
              <a:ea typeface="Montserrat"/>
              <a:cs typeface="Montserrat"/>
              <a:sym typeface="Montserrat"/>
            </a:endParaRPr>
          </a:p>
        </p:txBody>
      </p:sp>
      <p:sp>
        <p:nvSpPr>
          <p:cNvPr id="169" name="Google Shape;169;p4"/>
          <p:cNvSpPr txBox="1"/>
          <p:nvPr/>
        </p:nvSpPr>
        <p:spPr>
          <a:xfrm>
            <a:off x="4450925" y="3512063"/>
            <a:ext cx="18360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MOBILE OS</a:t>
            </a:r>
            <a:endParaRPr b="1" i="0" sz="800" u="none" cap="none" strike="noStrike">
              <a:solidFill>
                <a:schemeClr val="dk1"/>
              </a:solidFill>
              <a:latin typeface="Montserrat"/>
              <a:ea typeface="Montserrat"/>
              <a:cs typeface="Montserrat"/>
              <a:sym typeface="Montserrat"/>
            </a:endParaRPr>
          </a:p>
          <a:p>
            <a:pPr indent="0" lvl="0" marL="0" marR="0" rtl="0" algn="l">
              <a:lnSpc>
                <a:spcPct val="125000"/>
              </a:lnSpc>
              <a:spcBef>
                <a:spcPts val="0"/>
              </a:spcBef>
              <a:spcAft>
                <a:spcPts val="0"/>
              </a:spcAft>
              <a:buClr>
                <a:srgbClr val="000000"/>
              </a:buClr>
              <a:buSzPts val="1600"/>
              <a:buFont typeface="Arial"/>
              <a:buNone/>
            </a:pPr>
            <a:r>
              <a:rPr b="1" lang="en" sz="1000">
                <a:solidFill>
                  <a:schemeClr val="dk1"/>
                </a:solidFill>
                <a:latin typeface="Montserrat"/>
                <a:ea typeface="Montserrat"/>
                <a:cs typeface="Montserrat"/>
                <a:sym typeface="Montserrat"/>
              </a:rPr>
              <a:t>IOS</a:t>
            </a:r>
            <a:r>
              <a:rPr b="1" lang="en" sz="1000">
                <a:solidFill>
                  <a:schemeClr val="dk1"/>
                </a:solidFill>
                <a:latin typeface="Montserrat"/>
                <a:ea typeface="Montserrat"/>
                <a:cs typeface="Montserrat"/>
                <a:sym typeface="Montserrat"/>
              </a:rPr>
              <a:t>, ANDROID</a:t>
            </a:r>
            <a:endParaRPr b="1" i="0" sz="400" u="none" cap="none" strike="noStrike">
              <a:solidFill>
                <a:srgbClr val="000000"/>
              </a:solidFill>
              <a:latin typeface="Montserrat"/>
              <a:ea typeface="Montserrat"/>
              <a:cs typeface="Montserrat"/>
              <a:sym typeface="Montserrat"/>
            </a:endParaRPr>
          </a:p>
        </p:txBody>
      </p:sp>
      <p:sp>
        <p:nvSpPr>
          <p:cNvPr id="170" name="Google Shape;170;p4"/>
          <p:cNvSpPr txBox="1"/>
          <p:nvPr/>
        </p:nvSpPr>
        <p:spPr>
          <a:xfrm>
            <a:off x="6476991" y="3512063"/>
            <a:ext cx="2451300" cy="459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RESOLUTIONS </a:t>
            </a:r>
            <a:r>
              <a:rPr b="1" lang="en" sz="800">
                <a:solidFill>
                  <a:schemeClr val="dk1"/>
                </a:solidFill>
                <a:latin typeface="Montserrat"/>
                <a:ea typeface="Montserrat"/>
                <a:cs typeface="Montserrat"/>
                <a:sym typeface="Montserrat"/>
              </a:rPr>
              <a:t>DESKTOP</a:t>
            </a:r>
            <a:br>
              <a:rPr b="1" lang="en" sz="1000">
                <a:solidFill>
                  <a:schemeClr val="dk1"/>
                </a:solidFill>
                <a:latin typeface="Montserrat"/>
                <a:ea typeface="Montserrat"/>
                <a:cs typeface="Montserrat"/>
                <a:sym typeface="Montserrat"/>
              </a:rPr>
            </a:br>
            <a:r>
              <a:rPr b="1" lang="en" sz="1000">
                <a:solidFill>
                  <a:schemeClr val="dk1"/>
                </a:solidFill>
                <a:latin typeface="Montserrat"/>
                <a:ea typeface="Montserrat"/>
                <a:cs typeface="Montserrat"/>
                <a:sym typeface="Montserrat"/>
              </a:rPr>
              <a:t>DESKTOPS 1920x1080 </a:t>
            </a:r>
            <a:endParaRPr b="1"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pSp>
        <p:nvGrpSpPr>
          <p:cNvPr id="175" name="Google Shape;175;p5"/>
          <p:cNvGrpSpPr/>
          <p:nvPr/>
        </p:nvGrpSpPr>
        <p:grpSpPr>
          <a:xfrm>
            <a:off x="0" y="-6656"/>
            <a:ext cx="9144000" cy="5150150"/>
            <a:chOff x="0" y="-6656"/>
            <a:chExt cx="9144000" cy="5150150"/>
          </a:xfrm>
        </p:grpSpPr>
        <p:sp>
          <p:nvSpPr>
            <p:cNvPr id="176" name="Google Shape;176;p5"/>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5"/>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5"/>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5"/>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5"/>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5"/>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5"/>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5"/>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5"/>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5"/>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 name="Google Shape;188;p5"/>
          <p:cNvSpPr/>
          <p:nvPr/>
        </p:nvSpPr>
        <p:spPr>
          <a:xfrm>
            <a:off x="0" y="-3325"/>
            <a:ext cx="4008000" cy="5143500"/>
          </a:xfrm>
          <a:prstGeom prst="rect">
            <a:avLst/>
          </a:prstGeom>
          <a:solidFill>
            <a:srgbClr val="F7F3FF"/>
          </a:solidFill>
          <a:ln>
            <a:noFill/>
          </a:ln>
          <a:effectLst>
            <a:outerShdw blurRad="200025" rotWithShape="0" algn="bl" dir="5400000" dist="57150">
              <a:srgbClr val="000000">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
          <p:cNvSpPr txBox="1"/>
          <p:nvPr>
            <p:ph type="title"/>
          </p:nvPr>
        </p:nvSpPr>
        <p:spPr>
          <a:xfrm>
            <a:off x="406469" y="872664"/>
            <a:ext cx="3675900" cy="153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b="1" lang="en" sz="3000">
                <a:latin typeface="Montserrat"/>
                <a:ea typeface="Montserrat"/>
                <a:cs typeface="Montserrat"/>
                <a:sym typeface="Montserrat"/>
              </a:rPr>
              <a:t>End-Users’</a:t>
            </a:r>
            <a:endParaRPr b="1" sz="3000">
              <a:latin typeface="Montserrat"/>
              <a:ea typeface="Montserrat"/>
              <a:cs typeface="Montserrat"/>
              <a:sym typeface="Montserrat"/>
            </a:endParaRPr>
          </a:p>
          <a:p>
            <a:pPr indent="0" lvl="0" marL="0" rtl="0" algn="l">
              <a:lnSpc>
                <a:spcPct val="100000"/>
              </a:lnSpc>
              <a:spcBef>
                <a:spcPts val="0"/>
              </a:spcBef>
              <a:spcAft>
                <a:spcPts val="0"/>
              </a:spcAft>
              <a:buClr>
                <a:srgbClr val="000000"/>
              </a:buClr>
              <a:buSzPts val="5200"/>
              <a:buFont typeface="Arial"/>
              <a:buNone/>
            </a:pPr>
            <a:r>
              <a:rPr b="1" lang="en" sz="3000">
                <a:solidFill>
                  <a:srgbClr val="674EA7"/>
                </a:solidFill>
                <a:latin typeface="Montserrat"/>
                <a:ea typeface="Montserrat"/>
                <a:cs typeface="Montserrat"/>
                <a:sym typeface="Montserrat"/>
              </a:rPr>
              <a:t>Findings</a:t>
            </a:r>
            <a:endParaRPr b="1" sz="3000">
              <a:solidFill>
                <a:srgbClr val="674EA7"/>
              </a:solidFill>
              <a:latin typeface="Montserrat"/>
              <a:ea typeface="Montserrat"/>
              <a:cs typeface="Montserrat"/>
              <a:sym typeface="Montserrat"/>
            </a:endParaRPr>
          </a:p>
        </p:txBody>
      </p:sp>
      <p:sp>
        <p:nvSpPr>
          <p:cNvPr id="190" name="Google Shape;190;p5"/>
          <p:cNvSpPr txBox="1"/>
          <p:nvPr/>
        </p:nvSpPr>
        <p:spPr>
          <a:xfrm>
            <a:off x="439756" y="337150"/>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END-USERS’ INPUT </a:t>
            </a:r>
            <a:endParaRPr b="1" i="0" sz="700" u="none" cap="none" strike="noStrike">
              <a:solidFill>
                <a:srgbClr val="B7B7B7"/>
              </a:solidFill>
              <a:latin typeface="Montserrat"/>
              <a:ea typeface="Montserrat"/>
              <a:cs typeface="Montserrat"/>
              <a:sym typeface="Montserrat"/>
            </a:endParaRPr>
          </a:p>
        </p:txBody>
      </p:sp>
      <p:sp>
        <p:nvSpPr>
          <p:cNvPr id="191" name="Google Shape;191;p5"/>
          <p:cNvSpPr txBox="1"/>
          <p:nvPr/>
        </p:nvSpPr>
        <p:spPr>
          <a:xfrm>
            <a:off x="406475" y="2042950"/>
            <a:ext cx="32400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lang="en" sz="900">
                <a:solidFill>
                  <a:srgbClr val="0E101A"/>
                </a:solidFill>
              </a:rPr>
              <a:t>We have done interviews with users. The most critical part of these sessions was listening to and observing how users interact with MMS application.</a:t>
            </a:r>
            <a:endParaRPr sz="900">
              <a:solidFill>
                <a:srgbClr val="0E101A"/>
              </a:solidFill>
            </a:endParaRPr>
          </a:p>
          <a:p>
            <a:pPr indent="0" lvl="0" marL="0" marR="0" rtl="0" algn="l">
              <a:lnSpc>
                <a:spcPct val="115000"/>
              </a:lnSpc>
              <a:spcBef>
                <a:spcPts val="1000"/>
              </a:spcBef>
              <a:spcAft>
                <a:spcPts val="0"/>
              </a:spcAft>
              <a:buClr>
                <a:schemeClr val="dk1"/>
              </a:buClr>
              <a:buSzPts val="1100"/>
              <a:buFont typeface="Arial"/>
              <a:buNone/>
            </a:pPr>
            <a:r>
              <a:rPr lang="en" sz="900" u="sng">
                <a:solidFill>
                  <a:schemeClr val="hlink"/>
                </a:solidFill>
                <a:hlinkClick r:id="rId3"/>
              </a:rPr>
              <a:t>Videos from Interviews</a:t>
            </a:r>
            <a:endParaRPr sz="900">
              <a:solidFill>
                <a:srgbClr val="674EA7"/>
              </a:solidFill>
            </a:endParaRPr>
          </a:p>
          <a:p>
            <a:pPr indent="0" lvl="0" marL="0" marR="0" rtl="0" algn="l">
              <a:lnSpc>
                <a:spcPct val="115000"/>
              </a:lnSpc>
              <a:spcBef>
                <a:spcPts val="1000"/>
              </a:spcBef>
              <a:spcAft>
                <a:spcPts val="0"/>
              </a:spcAft>
              <a:buClr>
                <a:schemeClr val="dk1"/>
              </a:buClr>
              <a:buSzPts val="1100"/>
              <a:buFont typeface="Arial"/>
              <a:buNone/>
            </a:pPr>
            <a:r>
              <a:rPr lang="en" sz="900" u="sng">
                <a:solidFill>
                  <a:srgbClr val="674EA7"/>
                </a:solidFill>
                <a:hlinkClick r:id="rId4">
                  <a:extLst>
                    <a:ext uri="{A12FA001-AC4F-418D-AE19-62706E023703}">
                      <ahyp:hlinkClr val="tx"/>
                    </a:ext>
                  </a:extLst>
                </a:hlinkClick>
              </a:rPr>
              <a:t>Notes</a:t>
            </a:r>
            <a:endParaRPr sz="900">
              <a:solidFill>
                <a:srgbClr val="674EA7"/>
              </a:solidFill>
            </a:endParaRPr>
          </a:p>
        </p:txBody>
      </p:sp>
      <p:pic>
        <p:nvPicPr>
          <p:cNvPr id="192" name="Google Shape;192;p5"/>
          <p:cNvPicPr preferRelativeResize="0"/>
          <p:nvPr/>
        </p:nvPicPr>
        <p:blipFill>
          <a:blip r:embed="rId5">
            <a:alphaModFix/>
          </a:blip>
          <a:stretch>
            <a:fillRect/>
          </a:stretch>
        </p:blipFill>
        <p:spPr>
          <a:xfrm>
            <a:off x="4215325" y="26900"/>
            <a:ext cx="4702027" cy="50259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6"/>
          <p:cNvSpPr/>
          <p:nvPr/>
        </p:nvSpPr>
        <p:spPr>
          <a:xfrm>
            <a:off x="0" y="0"/>
            <a:ext cx="4000500" cy="5143500"/>
          </a:xfrm>
          <a:prstGeom prst="rect">
            <a:avLst/>
          </a:prstGeom>
          <a:solidFill>
            <a:srgbClr val="FFE9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9DAF8"/>
              </a:solidFill>
              <a:latin typeface="Arial"/>
              <a:ea typeface="Arial"/>
              <a:cs typeface="Arial"/>
              <a:sym typeface="Arial"/>
            </a:endParaRPr>
          </a:p>
        </p:txBody>
      </p:sp>
      <p:sp>
        <p:nvSpPr>
          <p:cNvPr id="198" name="Google Shape;198;p6"/>
          <p:cNvSpPr txBox="1"/>
          <p:nvPr/>
        </p:nvSpPr>
        <p:spPr>
          <a:xfrm>
            <a:off x="439756" y="349126"/>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END-USERS’ INPUT </a:t>
            </a:r>
            <a:endParaRPr b="1" i="0" sz="700" u="none" cap="none" strike="noStrike">
              <a:solidFill>
                <a:srgbClr val="B7B7B7"/>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199" name="Google Shape;199;p6"/>
          <p:cNvSpPr txBox="1"/>
          <p:nvPr>
            <p:ph idx="4294967295" type="ctrTitle"/>
          </p:nvPr>
        </p:nvSpPr>
        <p:spPr>
          <a:xfrm>
            <a:off x="406475" y="735008"/>
            <a:ext cx="3675900" cy="9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End-Users’</a:t>
            </a:r>
            <a:endParaRPr b="1" i="0" sz="30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rgbClr val="CC0000"/>
                </a:solidFill>
                <a:latin typeface="Montserrat"/>
                <a:ea typeface="Montserrat"/>
                <a:cs typeface="Montserrat"/>
                <a:sym typeface="Montserrat"/>
              </a:rPr>
              <a:t>Pain Points</a:t>
            </a:r>
            <a:endParaRPr b="1" i="0" sz="3000" u="none" cap="none" strike="noStrike">
              <a:solidFill>
                <a:srgbClr val="CC0000"/>
              </a:solidFill>
              <a:latin typeface="Montserrat"/>
              <a:ea typeface="Montserrat"/>
              <a:cs typeface="Montserrat"/>
              <a:sym typeface="Montserrat"/>
            </a:endParaRPr>
          </a:p>
        </p:txBody>
      </p:sp>
      <p:grpSp>
        <p:nvGrpSpPr>
          <p:cNvPr id="200" name="Google Shape;200;p6"/>
          <p:cNvGrpSpPr/>
          <p:nvPr/>
        </p:nvGrpSpPr>
        <p:grpSpPr>
          <a:xfrm>
            <a:off x="0" y="-6656"/>
            <a:ext cx="9144000" cy="5150150"/>
            <a:chOff x="0" y="-6656"/>
            <a:chExt cx="9144000" cy="5150150"/>
          </a:xfrm>
        </p:grpSpPr>
        <p:sp>
          <p:nvSpPr>
            <p:cNvPr id="201" name="Google Shape;201;p6"/>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6"/>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6"/>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6"/>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
            <p:cNvSpPr/>
            <p:nvPr/>
          </p:nvSpPr>
          <p:spPr>
            <a:xfrm>
              <a:off x="0" y="1659269"/>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6"/>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6"/>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6"/>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6"/>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6"/>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40005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4" name="Google Shape;214;p6"/>
          <p:cNvSpPr txBox="1"/>
          <p:nvPr/>
        </p:nvSpPr>
        <p:spPr>
          <a:xfrm>
            <a:off x="406475" y="2042950"/>
            <a:ext cx="32400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lang="en" sz="900">
                <a:solidFill>
                  <a:srgbClr val="0E101A"/>
                </a:solidFill>
              </a:rPr>
              <a:t>We have done interviews with users. The most critical part of these sessions was listening to and observing how users interact with MMS application.</a:t>
            </a:r>
            <a:r>
              <a:rPr lang="en" sz="900">
                <a:solidFill>
                  <a:srgbClr val="0E101A"/>
                </a:solidFill>
              </a:rPr>
              <a:t> Users shared some requests and pain points listed here. Also, all these pains you can find on CJM assigned to specific places in application.</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rPr lang="en" sz="900" u="sng">
                <a:solidFill>
                  <a:srgbClr val="CC0000"/>
                </a:solidFill>
                <a:hlinkClick r:id="rId3">
                  <a:extLst>
                    <a:ext uri="{A12FA001-AC4F-418D-AE19-62706E023703}">
                      <ahyp:hlinkClr val="tx"/>
                    </a:ext>
                  </a:extLst>
                </a:hlinkClick>
              </a:rPr>
              <a:t>Pain Points</a:t>
            </a:r>
            <a:r>
              <a:rPr lang="en" sz="900">
                <a:solidFill>
                  <a:srgbClr val="CC0000"/>
                </a:solidFill>
              </a:rPr>
              <a:t> - Document</a:t>
            </a:r>
            <a:endParaRPr sz="900">
              <a:solidFill>
                <a:srgbClr val="CC0000"/>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rtl="0" algn="l">
              <a:lnSpc>
                <a:spcPct val="115000"/>
              </a:lnSpc>
              <a:spcBef>
                <a:spcPts val="0"/>
              </a:spcBef>
              <a:spcAft>
                <a:spcPts val="0"/>
              </a:spcAft>
              <a:buClr>
                <a:schemeClr val="dk1"/>
              </a:buClr>
              <a:buSzPts val="1100"/>
              <a:buFont typeface="Arial"/>
              <a:buNone/>
            </a:pPr>
            <a:r>
              <a:rPr lang="en" sz="900" u="sng">
                <a:solidFill>
                  <a:srgbClr val="CC0000"/>
                </a:solidFill>
                <a:hlinkClick r:id="rId4">
                  <a:extLst>
                    <a:ext uri="{A12FA001-AC4F-418D-AE19-62706E023703}">
                      <ahyp:hlinkClr val="tx"/>
                    </a:ext>
                  </a:extLst>
                </a:hlinkClick>
              </a:rPr>
              <a:t>Pain Points</a:t>
            </a:r>
            <a:r>
              <a:rPr lang="en" sz="900">
                <a:solidFill>
                  <a:srgbClr val="CC0000"/>
                </a:solidFill>
              </a:rPr>
              <a:t> - MIRO</a:t>
            </a:r>
            <a:endParaRPr sz="900">
              <a:solidFill>
                <a:srgbClr val="CC0000"/>
              </a:solidFill>
            </a:endParaRPr>
          </a:p>
        </p:txBody>
      </p:sp>
      <p:pic>
        <p:nvPicPr>
          <p:cNvPr id="215" name="Google Shape;215;p6"/>
          <p:cNvPicPr preferRelativeResize="0"/>
          <p:nvPr/>
        </p:nvPicPr>
        <p:blipFill rotWithShape="1">
          <a:blip r:embed="rId5">
            <a:alphaModFix/>
          </a:blip>
          <a:srcRect b="32499" l="680" r="61111" t="13603"/>
          <a:stretch/>
        </p:blipFill>
        <p:spPr>
          <a:xfrm>
            <a:off x="4000500" y="0"/>
            <a:ext cx="5143501"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7"/>
          <p:cNvSpPr/>
          <p:nvPr/>
        </p:nvSpPr>
        <p:spPr>
          <a:xfrm>
            <a:off x="0" y="0"/>
            <a:ext cx="4000500" cy="5143500"/>
          </a:xfrm>
          <a:prstGeom prst="rect">
            <a:avLst/>
          </a:prstGeom>
          <a:solidFill>
            <a:srgbClr val="EEFF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9DAF8"/>
              </a:solidFill>
              <a:latin typeface="Arial"/>
              <a:ea typeface="Arial"/>
              <a:cs typeface="Arial"/>
              <a:sym typeface="Arial"/>
            </a:endParaRPr>
          </a:p>
        </p:txBody>
      </p:sp>
      <p:sp>
        <p:nvSpPr>
          <p:cNvPr id="221" name="Google Shape;221;p7"/>
          <p:cNvSpPr txBox="1"/>
          <p:nvPr/>
        </p:nvSpPr>
        <p:spPr>
          <a:xfrm>
            <a:off x="439756" y="349126"/>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END-USERS’ INPUT </a:t>
            </a:r>
            <a:endParaRPr b="1" i="0" sz="700" u="none" cap="none" strike="noStrike">
              <a:solidFill>
                <a:srgbClr val="B7B7B7"/>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222" name="Google Shape;222;p7"/>
          <p:cNvSpPr txBox="1"/>
          <p:nvPr>
            <p:ph idx="4294967295" type="ctrTitle"/>
          </p:nvPr>
        </p:nvSpPr>
        <p:spPr>
          <a:xfrm>
            <a:off x="406475" y="738274"/>
            <a:ext cx="3675900" cy="9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End-Users’ </a:t>
            </a:r>
            <a:r>
              <a:rPr b="1" lang="en" sz="3000">
                <a:solidFill>
                  <a:srgbClr val="38761D"/>
                </a:solidFill>
                <a:latin typeface="Montserrat"/>
                <a:ea typeface="Montserrat"/>
                <a:cs typeface="Montserrat"/>
                <a:sym typeface="Montserrat"/>
              </a:rPr>
              <a:t>Needs</a:t>
            </a:r>
            <a:endParaRPr b="1" i="0" sz="3000" u="none" cap="none" strike="noStrike">
              <a:solidFill>
                <a:srgbClr val="38761D"/>
              </a:solidFill>
              <a:latin typeface="Montserrat"/>
              <a:ea typeface="Montserrat"/>
              <a:cs typeface="Montserrat"/>
              <a:sym typeface="Montserrat"/>
            </a:endParaRPr>
          </a:p>
        </p:txBody>
      </p:sp>
      <p:grpSp>
        <p:nvGrpSpPr>
          <p:cNvPr id="223" name="Google Shape;223;p7"/>
          <p:cNvGrpSpPr/>
          <p:nvPr/>
        </p:nvGrpSpPr>
        <p:grpSpPr>
          <a:xfrm>
            <a:off x="0" y="-6656"/>
            <a:ext cx="9144000" cy="5150150"/>
            <a:chOff x="0" y="-6656"/>
            <a:chExt cx="9144000" cy="5150150"/>
          </a:xfrm>
        </p:grpSpPr>
        <p:sp>
          <p:nvSpPr>
            <p:cNvPr id="224" name="Google Shape;224;p7"/>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7"/>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7"/>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7"/>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7"/>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7"/>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7"/>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7"/>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40005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 name="Google Shape;237;p7"/>
          <p:cNvSpPr/>
          <p:nvPr/>
        </p:nvSpPr>
        <p:spPr>
          <a:xfrm>
            <a:off x="4000500" y="14384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7"/>
          <p:cNvSpPr/>
          <p:nvPr/>
        </p:nvSpPr>
        <p:spPr>
          <a:xfrm>
            <a:off x="4339350" y="13945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7"/>
          <p:cNvSpPr/>
          <p:nvPr/>
        </p:nvSpPr>
        <p:spPr>
          <a:xfrm>
            <a:off x="4339350" y="3060295"/>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7"/>
          <p:cNvSpPr txBox="1"/>
          <p:nvPr/>
        </p:nvSpPr>
        <p:spPr>
          <a:xfrm>
            <a:off x="406475" y="2042950"/>
            <a:ext cx="32400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lang="en" sz="900">
                <a:solidFill>
                  <a:srgbClr val="0E101A"/>
                </a:solidFill>
              </a:rPr>
              <a:t>We have done interviews with users. The most critical part of these sessions was listening to and observing how users interact with MMS application. User shared some request and needs listed here. Also, all these needs you can find on CJM assigned to specific places in application.</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rPr lang="en" sz="900" u="sng">
                <a:solidFill>
                  <a:srgbClr val="6AA84F"/>
                </a:solidFill>
                <a:hlinkClick r:id="rId3">
                  <a:extLst>
                    <a:ext uri="{A12FA001-AC4F-418D-AE19-62706E023703}">
                      <ahyp:hlinkClr val="tx"/>
                    </a:ext>
                  </a:extLst>
                </a:hlinkClick>
              </a:rPr>
              <a:t>Needs</a:t>
            </a:r>
            <a:r>
              <a:rPr lang="en" sz="900">
                <a:solidFill>
                  <a:srgbClr val="6AA84F"/>
                </a:solidFill>
              </a:rPr>
              <a:t> - Document</a:t>
            </a:r>
            <a:endParaRPr sz="900">
              <a:solidFill>
                <a:srgbClr val="6AA84F"/>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6AA84F"/>
              </a:solidFill>
            </a:endParaRPr>
          </a:p>
          <a:p>
            <a:pPr indent="0" lvl="0" marL="0" rtl="0" algn="l">
              <a:lnSpc>
                <a:spcPct val="115000"/>
              </a:lnSpc>
              <a:spcBef>
                <a:spcPts val="0"/>
              </a:spcBef>
              <a:spcAft>
                <a:spcPts val="0"/>
              </a:spcAft>
              <a:buClr>
                <a:schemeClr val="dk1"/>
              </a:buClr>
              <a:buSzPts val="1100"/>
              <a:buFont typeface="Arial"/>
              <a:buNone/>
            </a:pPr>
            <a:r>
              <a:rPr lang="en" sz="900" u="sng">
                <a:solidFill>
                  <a:srgbClr val="6AA84F"/>
                </a:solidFill>
                <a:hlinkClick r:id="rId4">
                  <a:extLst>
                    <a:ext uri="{A12FA001-AC4F-418D-AE19-62706E023703}">
                      <ahyp:hlinkClr val="tx"/>
                    </a:ext>
                  </a:extLst>
                </a:hlinkClick>
              </a:rPr>
              <a:t>Needs</a:t>
            </a:r>
            <a:r>
              <a:rPr lang="en" sz="900">
                <a:solidFill>
                  <a:srgbClr val="6AA84F"/>
                </a:solidFill>
              </a:rPr>
              <a:t> - MIRO</a:t>
            </a:r>
            <a:endParaRPr sz="900">
              <a:solidFill>
                <a:srgbClr val="6AA84F"/>
              </a:solidFill>
            </a:endParaRPr>
          </a:p>
        </p:txBody>
      </p:sp>
      <p:pic>
        <p:nvPicPr>
          <p:cNvPr id="241" name="Google Shape;241;p7"/>
          <p:cNvPicPr preferRelativeResize="0"/>
          <p:nvPr/>
        </p:nvPicPr>
        <p:blipFill rotWithShape="1">
          <a:blip r:embed="rId5">
            <a:alphaModFix/>
          </a:blip>
          <a:srcRect b="9222" l="18178" r="15767" t="11813"/>
          <a:stretch/>
        </p:blipFill>
        <p:spPr>
          <a:xfrm>
            <a:off x="4082375" y="410400"/>
            <a:ext cx="4919752" cy="4316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grpSp>
        <p:nvGrpSpPr>
          <p:cNvPr id="246" name="Google Shape;246;p8"/>
          <p:cNvGrpSpPr/>
          <p:nvPr/>
        </p:nvGrpSpPr>
        <p:grpSpPr>
          <a:xfrm>
            <a:off x="0" y="-6656"/>
            <a:ext cx="9144000" cy="5150150"/>
            <a:chOff x="0" y="-6656"/>
            <a:chExt cx="9144000" cy="5150150"/>
          </a:xfrm>
        </p:grpSpPr>
        <p:sp>
          <p:nvSpPr>
            <p:cNvPr id="247" name="Google Shape;247;p8"/>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8"/>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8"/>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8"/>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8"/>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9" name="Google Shape;259;p8"/>
          <p:cNvSpPr/>
          <p:nvPr/>
        </p:nvSpPr>
        <p:spPr>
          <a:xfrm>
            <a:off x="0" y="-3325"/>
            <a:ext cx="4008000" cy="5143500"/>
          </a:xfrm>
          <a:prstGeom prst="rect">
            <a:avLst/>
          </a:prstGeom>
          <a:solidFill>
            <a:srgbClr val="F7F3FF"/>
          </a:solidFill>
          <a:ln>
            <a:noFill/>
          </a:ln>
          <a:effectLst>
            <a:outerShdw blurRad="200025" rotWithShape="0" algn="bl" dir="5400000" dist="57150">
              <a:srgbClr val="000000">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8"/>
          <p:cNvSpPr txBox="1"/>
          <p:nvPr>
            <p:ph type="title"/>
          </p:nvPr>
        </p:nvSpPr>
        <p:spPr>
          <a:xfrm>
            <a:off x="406469" y="766525"/>
            <a:ext cx="3675900" cy="153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b="1" lang="en" sz="3000">
                <a:latin typeface="Montserrat"/>
                <a:ea typeface="Montserrat"/>
                <a:cs typeface="Montserrat"/>
                <a:sym typeface="Montserrat"/>
              </a:rPr>
              <a:t>Stakeholders</a:t>
            </a:r>
            <a:endParaRPr b="1" sz="3000">
              <a:latin typeface="Montserrat"/>
              <a:ea typeface="Montserrat"/>
              <a:cs typeface="Montserrat"/>
              <a:sym typeface="Montserrat"/>
            </a:endParaRPr>
          </a:p>
          <a:p>
            <a:pPr indent="0" lvl="0" marL="0" rtl="0" algn="l">
              <a:lnSpc>
                <a:spcPct val="100000"/>
              </a:lnSpc>
              <a:spcBef>
                <a:spcPts val="0"/>
              </a:spcBef>
              <a:spcAft>
                <a:spcPts val="0"/>
              </a:spcAft>
              <a:buClr>
                <a:srgbClr val="000000"/>
              </a:buClr>
              <a:buSzPts val="5200"/>
              <a:buFont typeface="Arial"/>
              <a:buNone/>
            </a:pPr>
            <a:r>
              <a:rPr b="1" lang="en" sz="3000">
                <a:solidFill>
                  <a:srgbClr val="674EA7"/>
                </a:solidFill>
                <a:latin typeface="Montserrat"/>
                <a:ea typeface="Montserrat"/>
                <a:cs typeface="Montserrat"/>
                <a:sym typeface="Montserrat"/>
              </a:rPr>
              <a:t>Findings</a:t>
            </a:r>
            <a:endParaRPr b="1" sz="3000">
              <a:solidFill>
                <a:srgbClr val="674EA7"/>
              </a:solidFill>
              <a:latin typeface="Montserrat"/>
              <a:ea typeface="Montserrat"/>
              <a:cs typeface="Montserrat"/>
              <a:sym typeface="Montserrat"/>
            </a:endParaRPr>
          </a:p>
        </p:txBody>
      </p:sp>
      <p:sp>
        <p:nvSpPr>
          <p:cNvPr id="261" name="Google Shape;261;p8"/>
          <p:cNvSpPr txBox="1"/>
          <p:nvPr/>
        </p:nvSpPr>
        <p:spPr>
          <a:xfrm>
            <a:off x="439756" y="337150"/>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STAKEHOLDERS INPUT </a:t>
            </a:r>
            <a:endParaRPr b="1" i="0" sz="700" u="none" cap="none" strike="noStrike">
              <a:solidFill>
                <a:srgbClr val="B7B7B7"/>
              </a:solidFill>
              <a:latin typeface="Montserrat"/>
              <a:ea typeface="Montserrat"/>
              <a:cs typeface="Montserrat"/>
              <a:sym typeface="Montserrat"/>
            </a:endParaRPr>
          </a:p>
        </p:txBody>
      </p:sp>
      <p:sp>
        <p:nvSpPr>
          <p:cNvPr id="262" name="Google Shape;262;p8"/>
          <p:cNvSpPr txBox="1"/>
          <p:nvPr/>
        </p:nvSpPr>
        <p:spPr>
          <a:xfrm>
            <a:off x="406475" y="1954774"/>
            <a:ext cx="31353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lang="en" sz="900">
                <a:solidFill>
                  <a:srgbClr val="0E101A"/>
                </a:solidFill>
              </a:rPr>
              <a:t>We interviewed managers and developers to understand how MMS, SCOUT, and FUSION products work. Also, to figure out the potential problems your company already faced to avoid these problems.</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rtl="0" algn="l">
              <a:lnSpc>
                <a:spcPct val="115000"/>
              </a:lnSpc>
              <a:spcBef>
                <a:spcPts val="0"/>
              </a:spcBef>
              <a:spcAft>
                <a:spcPts val="0"/>
              </a:spcAft>
              <a:buClr>
                <a:schemeClr val="dk1"/>
              </a:buClr>
              <a:buSzPts val="1100"/>
              <a:buFont typeface="Arial"/>
              <a:buNone/>
            </a:pPr>
            <a:r>
              <a:rPr lang="en" sz="900" u="sng">
                <a:solidFill>
                  <a:srgbClr val="674EA7"/>
                </a:solidFill>
                <a:hlinkClick r:id="rId3">
                  <a:extLst>
                    <a:ext uri="{A12FA001-AC4F-418D-AE19-62706E023703}">
                      <ahyp:hlinkClr val="tx"/>
                    </a:ext>
                  </a:extLst>
                </a:hlinkClick>
              </a:rPr>
              <a:t>Problems Statement</a:t>
            </a:r>
            <a:endParaRPr sz="900">
              <a:solidFill>
                <a:srgbClr val="674EA7"/>
              </a:solidFill>
            </a:endParaRPr>
          </a:p>
          <a:p>
            <a:pPr indent="0" lvl="0" marL="0" rtl="0" algn="l">
              <a:lnSpc>
                <a:spcPct val="115000"/>
              </a:lnSpc>
              <a:spcBef>
                <a:spcPts val="0"/>
              </a:spcBef>
              <a:spcAft>
                <a:spcPts val="0"/>
              </a:spcAft>
              <a:buClr>
                <a:schemeClr val="dk1"/>
              </a:buClr>
              <a:buSzPts val="1100"/>
              <a:buFont typeface="Arial"/>
              <a:buNone/>
            </a:pPr>
            <a:r>
              <a:t/>
            </a:r>
            <a:endParaRPr sz="900">
              <a:solidFill>
                <a:srgbClr val="674EA7"/>
              </a:solidFill>
            </a:endParaRPr>
          </a:p>
          <a:p>
            <a:pPr indent="0" lvl="0" marL="0" rtl="0" algn="l">
              <a:lnSpc>
                <a:spcPct val="115000"/>
              </a:lnSpc>
              <a:spcBef>
                <a:spcPts val="0"/>
              </a:spcBef>
              <a:spcAft>
                <a:spcPts val="0"/>
              </a:spcAft>
              <a:buClr>
                <a:schemeClr val="dk1"/>
              </a:buClr>
              <a:buSzPts val="1100"/>
              <a:buFont typeface="Arial"/>
              <a:buNone/>
            </a:pPr>
            <a:r>
              <a:rPr lang="en" sz="900" u="sng">
                <a:solidFill>
                  <a:srgbClr val="674EA7"/>
                </a:solidFill>
                <a:hlinkClick r:id="rId4">
                  <a:extLst>
                    <a:ext uri="{A12FA001-AC4F-418D-AE19-62706E023703}">
                      <ahyp:hlinkClr val="tx"/>
                    </a:ext>
                  </a:extLst>
                </a:hlinkClick>
              </a:rPr>
              <a:t>Stakeholders Interview</a:t>
            </a:r>
            <a:endParaRPr sz="900">
              <a:solidFill>
                <a:srgbClr val="674EA7"/>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sz="900">
              <a:solidFill>
                <a:srgbClr val="0E101A"/>
              </a:solidFill>
            </a:endParaRPr>
          </a:p>
          <a:p>
            <a:pPr indent="0" lvl="0" marL="0" marR="0" rtl="0" algn="l">
              <a:lnSpc>
                <a:spcPct val="115000"/>
              </a:lnSpc>
              <a:spcBef>
                <a:spcPts val="0"/>
              </a:spcBef>
              <a:spcAft>
                <a:spcPts val="0"/>
              </a:spcAft>
              <a:buClr>
                <a:schemeClr val="dk1"/>
              </a:buClr>
              <a:buSzPts val="1100"/>
              <a:buFont typeface="Arial"/>
              <a:buNone/>
            </a:pPr>
            <a:r>
              <a:t/>
            </a: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rgbClr val="0E101A"/>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rgbClr val="0E101A"/>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rgbClr val="0E101A"/>
              </a:solidFill>
              <a:latin typeface="Arial"/>
              <a:ea typeface="Arial"/>
              <a:cs typeface="Arial"/>
              <a:sym typeface="Arial"/>
            </a:endParaRPr>
          </a:p>
        </p:txBody>
      </p:sp>
      <p:pic>
        <p:nvPicPr>
          <p:cNvPr id="263" name="Google Shape;263;p8"/>
          <p:cNvPicPr preferRelativeResize="0"/>
          <p:nvPr/>
        </p:nvPicPr>
        <p:blipFill rotWithShape="1">
          <a:blip r:embed="rId5">
            <a:alphaModFix/>
          </a:blip>
          <a:srcRect b="0" l="0" r="0" t="28129"/>
          <a:stretch/>
        </p:blipFill>
        <p:spPr>
          <a:xfrm>
            <a:off x="4234100" y="-9975"/>
            <a:ext cx="4671275" cy="51501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11"/>
          <p:cNvGrpSpPr/>
          <p:nvPr/>
        </p:nvGrpSpPr>
        <p:grpSpPr>
          <a:xfrm>
            <a:off x="0" y="-6656"/>
            <a:ext cx="9144000" cy="5150150"/>
            <a:chOff x="0" y="-6656"/>
            <a:chExt cx="9144000" cy="5150150"/>
          </a:xfrm>
        </p:grpSpPr>
        <p:sp>
          <p:nvSpPr>
            <p:cNvPr id="269" name="Google Shape;269;p11"/>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1"/>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1"/>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1"/>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1"/>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1"/>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1"/>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1"/>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1"/>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1"/>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1"/>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1"/>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1" name="Google Shape;281;p11"/>
          <p:cNvSpPr/>
          <p:nvPr/>
        </p:nvSpPr>
        <p:spPr>
          <a:xfrm>
            <a:off x="0" y="-3325"/>
            <a:ext cx="4008000" cy="5143500"/>
          </a:xfrm>
          <a:prstGeom prst="rect">
            <a:avLst/>
          </a:prstGeom>
          <a:solidFill>
            <a:srgbClr val="FFF6DD"/>
          </a:solidFill>
          <a:ln>
            <a:noFill/>
          </a:ln>
          <a:effectLst>
            <a:outerShdw blurRad="200025" rotWithShape="0" algn="bl" dir="5400000" dist="57150">
              <a:srgbClr val="000000">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406469" y="860689"/>
            <a:ext cx="3675900" cy="153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b="1" lang="en" sz="3000">
                <a:latin typeface="Montserrat"/>
                <a:ea typeface="Montserrat"/>
                <a:cs typeface="Montserrat"/>
                <a:sym typeface="Montserrat"/>
              </a:rPr>
              <a:t>CJM</a:t>
            </a:r>
            <a:endParaRPr b="1" sz="3000">
              <a:latin typeface="Montserrat"/>
              <a:ea typeface="Montserrat"/>
              <a:cs typeface="Montserrat"/>
              <a:sym typeface="Montserrat"/>
            </a:endParaRPr>
          </a:p>
          <a:p>
            <a:pPr indent="0" lvl="0" marL="0" rtl="0" algn="l">
              <a:lnSpc>
                <a:spcPct val="100000"/>
              </a:lnSpc>
              <a:spcBef>
                <a:spcPts val="0"/>
              </a:spcBef>
              <a:spcAft>
                <a:spcPts val="0"/>
              </a:spcAft>
              <a:buSzPts val="5200"/>
              <a:buNone/>
            </a:pPr>
            <a:r>
              <a:rPr b="1" lang="en" sz="3000">
                <a:solidFill>
                  <a:srgbClr val="B45F06"/>
                </a:solidFill>
                <a:latin typeface="Montserrat"/>
                <a:ea typeface="Montserrat"/>
                <a:cs typeface="Montserrat"/>
                <a:sym typeface="Montserrat"/>
              </a:rPr>
              <a:t>Methodology</a:t>
            </a:r>
            <a:endParaRPr b="1" sz="3000">
              <a:solidFill>
                <a:srgbClr val="B45F06"/>
              </a:solidFill>
              <a:latin typeface="Montserrat"/>
              <a:ea typeface="Montserrat"/>
              <a:cs typeface="Montserrat"/>
              <a:sym typeface="Montserrat"/>
            </a:endParaRPr>
          </a:p>
        </p:txBody>
      </p:sp>
      <p:sp>
        <p:nvSpPr>
          <p:cNvPr id="283" name="Google Shape;283;p11"/>
          <p:cNvSpPr txBox="1"/>
          <p:nvPr/>
        </p:nvSpPr>
        <p:spPr>
          <a:xfrm>
            <a:off x="439747" y="337150"/>
            <a:ext cx="33684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 SCOPE FOR </a:t>
            </a:r>
            <a:r>
              <a:rPr b="1" lang="en" sz="700">
                <a:solidFill>
                  <a:schemeClr val="dk1"/>
                </a:solidFill>
                <a:latin typeface="Montserrat"/>
                <a:ea typeface="Montserrat"/>
                <a:cs typeface="Montserrat"/>
                <a:sym typeface="Montserrat"/>
              </a:rPr>
              <a:t>MVP from CJM</a:t>
            </a:r>
            <a:endParaRPr b="1" i="0" sz="700" u="none" cap="none" strike="noStrike">
              <a:solidFill>
                <a:srgbClr val="B7B7B7"/>
              </a:solidFill>
              <a:latin typeface="Montserrat"/>
              <a:ea typeface="Montserrat"/>
              <a:cs typeface="Montserrat"/>
              <a:sym typeface="Montserrat"/>
            </a:endParaRPr>
          </a:p>
        </p:txBody>
      </p:sp>
      <p:sp>
        <p:nvSpPr>
          <p:cNvPr id="284" name="Google Shape;284;p11"/>
          <p:cNvSpPr txBox="1"/>
          <p:nvPr/>
        </p:nvSpPr>
        <p:spPr>
          <a:xfrm>
            <a:off x="406475" y="2078874"/>
            <a:ext cx="32400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800" u="none" cap="none" strike="noStrike">
                <a:solidFill>
                  <a:schemeClr val="dk1"/>
                </a:solidFill>
                <a:latin typeface="Arial"/>
                <a:ea typeface="Arial"/>
                <a:cs typeface="Arial"/>
                <a:sym typeface="Arial"/>
              </a:rPr>
              <a:t>CJM - A Customer Journey Map</a:t>
            </a:r>
            <a:r>
              <a:rPr b="0" i="0" lang="en" sz="800" u="none" cap="none" strike="noStrike">
                <a:solidFill>
                  <a:schemeClr val="dk1"/>
                </a:solidFill>
                <a:latin typeface="Arial"/>
                <a:ea typeface="Arial"/>
                <a:cs typeface="Arial"/>
                <a:sym typeface="Arial"/>
              </a:rPr>
              <a:t> visually represents a customer's experience with your brand. These visuals tell a story about how a customer moves through each interaction phase and experiences each phase.</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Break scenario needs a statement into phases. Inspiration from the current </a:t>
            </a:r>
            <a:r>
              <a:rPr lang="en" sz="800">
                <a:solidFill>
                  <a:schemeClr val="dk1"/>
                </a:solidFill>
              </a:rPr>
              <a:t>MMS with some features/steps from SCOUT and FUSION with</a:t>
            </a:r>
            <a:r>
              <a:rPr b="0" i="0" lang="en" sz="800" u="none" cap="none" strike="noStrike">
                <a:solidFill>
                  <a:schemeClr val="dk1"/>
                </a:solidFill>
                <a:latin typeface="Arial"/>
                <a:ea typeface="Arial"/>
                <a:cs typeface="Arial"/>
                <a:sym typeface="Arial"/>
              </a:rPr>
              <a:t> new ideas and information from our users.</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We mapped user tasks for each phase/step and wrote down these tasks with pain points and ideas for each phase/step.</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chemeClr val="dk1"/>
              </a:buClr>
              <a:buSzPts val="1100"/>
              <a:buFont typeface="Arial"/>
              <a:buNone/>
            </a:pPr>
            <a:r>
              <a:rPr b="0" i="0" lang="en" sz="800" u="none" cap="none" strike="noStrike">
                <a:solidFill>
                  <a:schemeClr val="dk1"/>
                </a:solidFill>
                <a:latin typeface="Arial"/>
                <a:ea typeface="Arial"/>
                <a:cs typeface="Arial"/>
                <a:sym typeface="Arial"/>
              </a:rPr>
              <a:t>Have been shared evidence and ideas:</a:t>
            </a:r>
            <a:r>
              <a:rPr lang="en" sz="800">
                <a:solidFill>
                  <a:schemeClr val="dk1"/>
                </a:solidFill>
              </a:rPr>
              <a:t> gathered </a:t>
            </a:r>
            <a:r>
              <a:rPr b="0" i="0" lang="en" sz="800" u="none" cap="none" strike="noStrike">
                <a:solidFill>
                  <a:schemeClr val="dk1"/>
                </a:solidFill>
                <a:latin typeface="Arial"/>
                <a:ea typeface="Arial"/>
                <a:cs typeface="Arial"/>
                <a:sym typeface="Arial"/>
              </a:rPr>
              <a:t> screenshots from all products, possible solutions, and anything that can help.</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chemeClr val="dk1"/>
              </a:buClr>
              <a:buSzPts val="1100"/>
              <a:buFont typeface="Arial"/>
              <a:buNone/>
            </a:pPr>
            <a:r>
              <a:rPr lang="en" sz="800">
                <a:solidFill>
                  <a:schemeClr val="dk1"/>
                </a:solidFill>
              </a:rPr>
              <a:t>This is an instrument to understand the important scope for MVP, illustrate all problems, needs, and </a:t>
            </a:r>
            <a:r>
              <a:rPr lang="en" sz="800">
                <a:solidFill>
                  <a:schemeClr val="dk1"/>
                </a:solidFill>
              </a:rPr>
              <a:t>hypotheses</a:t>
            </a:r>
            <a:r>
              <a:rPr lang="en" sz="800">
                <a:solidFill>
                  <a:schemeClr val="dk1"/>
                </a:solidFill>
              </a:rPr>
              <a:t> to </a:t>
            </a:r>
            <a:r>
              <a:rPr lang="en" sz="800">
                <a:solidFill>
                  <a:schemeClr val="dk1"/>
                </a:solidFill>
              </a:rPr>
              <a:t>develop</a:t>
            </a:r>
            <a:r>
              <a:rPr lang="en" sz="800">
                <a:solidFill>
                  <a:schemeClr val="dk1"/>
                </a:solidFill>
              </a:rPr>
              <a:t>.</a:t>
            </a:r>
            <a:endParaRPr sz="800">
              <a:solidFill>
                <a:schemeClr val="dk1"/>
              </a:solidFill>
            </a:endParaRPr>
          </a:p>
          <a:p>
            <a:pPr indent="0" lvl="0" marL="0" marR="0" rtl="0" algn="l">
              <a:lnSpc>
                <a:spcPct val="115000"/>
              </a:lnSpc>
              <a:spcBef>
                <a:spcPts val="1000"/>
              </a:spcBef>
              <a:spcAft>
                <a:spcPts val="0"/>
              </a:spcAft>
              <a:buClr>
                <a:schemeClr val="dk1"/>
              </a:buClr>
              <a:buSzPts val="1100"/>
              <a:buFont typeface="Arial"/>
              <a:buNone/>
            </a:pPr>
            <a:r>
              <a:rPr lang="en" sz="800" u="sng">
                <a:solidFill>
                  <a:srgbClr val="B45F06"/>
                </a:solidFill>
                <a:hlinkClick r:id="rId3">
                  <a:extLst>
                    <a:ext uri="{A12FA001-AC4F-418D-AE19-62706E023703}">
                      <ahyp:hlinkClr val="tx"/>
                    </a:ext>
                  </a:extLst>
                </a:hlinkClick>
              </a:rPr>
              <a:t>Full Diagram with CJM</a:t>
            </a:r>
            <a:endParaRPr sz="800">
              <a:solidFill>
                <a:srgbClr val="B45F06"/>
              </a:solidFill>
            </a:endParaRPr>
          </a:p>
          <a:p>
            <a:pPr indent="0" lvl="0" marL="0" marR="0" rtl="0" algn="l">
              <a:lnSpc>
                <a:spcPct val="115000"/>
              </a:lnSpc>
              <a:spcBef>
                <a:spcPts val="1000"/>
              </a:spcBef>
              <a:spcAft>
                <a:spcPts val="0"/>
              </a:spcAft>
              <a:buClr>
                <a:schemeClr val="dk1"/>
              </a:buClr>
              <a:buSzPts val="11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100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p:txBody>
      </p:sp>
      <p:pic>
        <p:nvPicPr>
          <p:cNvPr id="285" name="Google Shape;285;p11"/>
          <p:cNvPicPr preferRelativeResize="0"/>
          <p:nvPr/>
        </p:nvPicPr>
        <p:blipFill rotWithShape="1">
          <a:blip r:embed="rId4">
            <a:alphaModFix/>
          </a:blip>
          <a:srcRect b="1419" l="0" r="27193" t="0"/>
          <a:stretch/>
        </p:blipFill>
        <p:spPr>
          <a:xfrm>
            <a:off x="4082375" y="641950"/>
            <a:ext cx="5061627" cy="4005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20"/>
          <p:cNvGrpSpPr/>
          <p:nvPr/>
        </p:nvGrpSpPr>
        <p:grpSpPr>
          <a:xfrm>
            <a:off x="0" y="-6656"/>
            <a:ext cx="9144000" cy="5150150"/>
            <a:chOff x="0" y="-6656"/>
            <a:chExt cx="9144000" cy="5150150"/>
          </a:xfrm>
        </p:grpSpPr>
        <p:sp>
          <p:nvSpPr>
            <p:cNvPr id="291" name="Google Shape;291;p20"/>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0"/>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0"/>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0"/>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0"/>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0"/>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0"/>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0"/>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0"/>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0"/>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0"/>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0"/>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3" name="Google Shape;303;p20"/>
          <p:cNvSpPr txBox="1"/>
          <p:nvPr/>
        </p:nvSpPr>
        <p:spPr>
          <a:xfrm>
            <a:off x="439747" y="337150"/>
            <a:ext cx="33684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 </a:t>
            </a:r>
            <a:r>
              <a:rPr b="1" lang="en" sz="700">
                <a:solidFill>
                  <a:schemeClr val="dk1"/>
                </a:solidFill>
                <a:latin typeface="Montserrat"/>
                <a:ea typeface="Montserrat"/>
                <a:cs typeface="Montserrat"/>
                <a:sym typeface="Montserrat"/>
              </a:rPr>
              <a:t>CJM for MVP</a:t>
            </a:r>
            <a:endParaRPr b="1" i="0" sz="700" u="none" cap="none" strike="noStrike">
              <a:solidFill>
                <a:schemeClr val="dk1"/>
              </a:solidFill>
              <a:latin typeface="Montserrat"/>
              <a:ea typeface="Montserrat"/>
              <a:cs typeface="Montserrat"/>
              <a:sym typeface="Montserrat"/>
            </a:endParaRPr>
          </a:p>
        </p:txBody>
      </p:sp>
      <p:grpSp>
        <p:nvGrpSpPr>
          <p:cNvPr id="304" name="Google Shape;304;p20"/>
          <p:cNvGrpSpPr/>
          <p:nvPr/>
        </p:nvGrpSpPr>
        <p:grpSpPr>
          <a:xfrm>
            <a:off x="4272402" y="3096022"/>
            <a:ext cx="759709" cy="276900"/>
            <a:chOff x="4272402" y="3497972"/>
            <a:chExt cx="759709" cy="276900"/>
          </a:xfrm>
        </p:grpSpPr>
        <p:pic>
          <p:nvPicPr>
            <p:cNvPr id="305" name="Google Shape;305;p20"/>
            <p:cNvPicPr preferRelativeResize="0"/>
            <p:nvPr/>
          </p:nvPicPr>
          <p:blipFill rotWithShape="1">
            <a:blip r:embed="rId3">
              <a:alphaModFix amt="60000"/>
            </a:blip>
            <a:srcRect b="0" l="0" r="0" t="0"/>
            <a:stretch/>
          </p:blipFill>
          <p:spPr>
            <a:xfrm>
              <a:off x="4272402" y="3515061"/>
              <a:ext cx="232400" cy="242723"/>
            </a:xfrm>
            <a:prstGeom prst="rect">
              <a:avLst/>
            </a:prstGeom>
            <a:noFill/>
            <a:ln>
              <a:noFill/>
            </a:ln>
          </p:spPr>
        </p:pic>
        <p:sp>
          <p:nvSpPr>
            <p:cNvPr id="306" name="Google Shape;306;p20"/>
            <p:cNvSpPr txBox="1"/>
            <p:nvPr/>
          </p:nvSpPr>
          <p:spPr>
            <a:xfrm>
              <a:off x="4421311" y="3497972"/>
              <a:ext cx="610800" cy="27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600"/>
                <a:buFont typeface="Arial"/>
                <a:buNone/>
              </a:pPr>
              <a:r>
                <a:rPr b="1" i="0" lang="en" sz="600" u="sng" cap="none" strike="noStrike">
                  <a:solidFill>
                    <a:schemeClr val="hlink"/>
                  </a:solidFill>
                  <a:latin typeface="Arial"/>
                  <a:ea typeface="Arial"/>
                  <a:cs typeface="Arial"/>
                  <a:sym typeface="Arial"/>
                  <a:hlinkClick r:id="rId4"/>
                </a:rPr>
                <a:t>Zoom In</a:t>
              </a:r>
              <a:endParaRPr b="1" i="0" sz="600" u="none" cap="none" strike="noStrike">
                <a:solidFill>
                  <a:srgbClr val="EC9301"/>
                </a:solidFill>
                <a:latin typeface="Arial"/>
                <a:ea typeface="Arial"/>
                <a:cs typeface="Arial"/>
                <a:sym typeface="Arial"/>
              </a:endParaRPr>
            </a:p>
          </p:txBody>
        </p:sp>
      </p:grpSp>
      <p:pic>
        <p:nvPicPr>
          <p:cNvPr id="307" name="Google Shape;307;p20"/>
          <p:cNvPicPr preferRelativeResize="0"/>
          <p:nvPr/>
        </p:nvPicPr>
        <p:blipFill>
          <a:blip r:embed="rId5">
            <a:alphaModFix/>
          </a:blip>
          <a:stretch>
            <a:fillRect/>
          </a:stretch>
        </p:blipFill>
        <p:spPr>
          <a:xfrm>
            <a:off x="0" y="1869861"/>
            <a:ext cx="9144003" cy="119657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132d76c2969_0_52"/>
          <p:cNvSpPr/>
          <p:nvPr/>
        </p:nvSpPr>
        <p:spPr>
          <a:xfrm>
            <a:off x="4006925" y="-6425"/>
            <a:ext cx="5137200" cy="51501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 name="Google Shape;313;g132d76c2969_0_52"/>
          <p:cNvGrpSpPr/>
          <p:nvPr/>
        </p:nvGrpSpPr>
        <p:grpSpPr>
          <a:xfrm>
            <a:off x="0" y="-6656"/>
            <a:ext cx="9144000" cy="5150150"/>
            <a:chOff x="0" y="-6656"/>
            <a:chExt cx="9144000" cy="5150150"/>
          </a:xfrm>
        </p:grpSpPr>
        <p:sp>
          <p:nvSpPr>
            <p:cNvPr id="314" name="Google Shape;314;g132d76c2969_0_52"/>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132d76c2969_0_52"/>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132d76c2969_0_52"/>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132d76c2969_0_52"/>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132d76c2969_0_52"/>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132d76c2969_0_52"/>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132d76c2969_0_52"/>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132d76c2969_0_52"/>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132d76c2969_0_52"/>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132d76c2969_0_52"/>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132d76c2969_0_52"/>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132d76c2969_0_52"/>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6" name="Google Shape;326;g132d76c2969_0_52"/>
          <p:cNvSpPr/>
          <p:nvPr/>
        </p:nvSpPr>
        <p:spPr>
          <a:xfrm>
            <a:off x="0" y="-3325"/>
            <a:ext cx="4008000" cy="5143500"/>
          </a:xfrm>
          <a:prstGeom prst="rect">
            <a:avLst/>
          </a:prstGeom>
          <a:solidFill>
            <a:srgbClr val="ECF6FF"/>
          </a:solidFill>
          <a:ln>
            <a:noFill/>
          </a:ln>
          <a:effectLst>
            <a:outerShdw blurRad="200025" rotWithShape="0" algn="bl" dir="5400000" dist="57150">
              <a:srgbClr val="000000">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132d76c2969_0_52"/>
          <p:cNvSpPr txBox="1"/>
          <p:nvPr>
            <p:ph type="title"/>
          </p:nvPr>
        </p:nvSpPr>
        <p:spPr>
          <a:xfrm>
            <a:off x="406469" y="860689"/>
            <a:ext cx="3675900" cy="1537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5200"/>
              <a:buNone/>
            </a:pPr>
            <a:r>
              <a:rPr b="1" lang="en" sz="3000">
                <a:latin typeface="Montserrat"/>
                <a:ea typeface="Montserrat"/>
                <a:cs typeface="Montserrat"/>
                <a:sym typeface="Montserrat"/>
              </a:rPr>
              <a:t>LOW-FI</a:t>
            </a:r>
            <a:endParaRPr b="1" sz="3000">
              <a:latin typeface="Montserrat"/>
              <a:ea typeface="Montserrat"/>
              <a:cs typeface="Montserrat"/>
              <a:sym typeface="Montserrat"/>
            </a:endParaRPr>
          </a:p>
          <a:p>
            <a:pPr indent="0" lvl="0" marL="0" rtl="0" algn="l">
              <a:lnSpc>
                <a:spcPct val="100000"/>
              </a:lnSpc>
              <a:spcBef>
                <a:spcPts val="0"/>
              </a:spcBef>
              <a:spcAft>
                <a:spcPts val="0"/>
              </a:spcAft>
              <a:buSzPts val="5200"/>
              <a:buNone/>
            </a:pPr>
            <a:r>
              <a:rPr b="1" lang="en" sz="3000">
                <a:solidFill>
                  <a:srgbClr val="1155CC"/>
                </a:solidFill>
                <a:latin typeface="Montserrat"/>
                <a:ea typeface="Montserrat"/>
                <a:cs typeface="Montserrat"/>
                <a:sym typeface="Montserrat"/>
              </a:rPr>
              <a:t>WIREFRAMES</a:t>
            </a:r>
            <a:endParaRPr b="1" sz="3000">
              <a:solidFill>
                <a:srgbClr val="1155CC"/>
              </a:solidFill>
              <a:latin typeface="Montserrat"/>
              <a:ea typeface="Montserrat"/>
              <a:cs typeface="Montserrat"/>
              <a:sym typeface="Montserrat"/>
            </a:endParaRPr>
          </a:p>
        </p:txBody>
      </p:sp>
      <p:sp>
        <p:nvSpPr>
          <p:cNvPr id="328" name="Google Shape;328;g132d76c2969_0_52"/>
          <p:cNvSpPr txBox="1"/>
          <p:nvPr/>
        </p:nvSpPr>
        <p:spPr>
          <a:xfrm>
            <a:off x="439747" y="337150"/>
            <a:ext cx="33684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 HYPOT</a:t>
            </a:r>
            <a:r>
              <a:rPr b="1" lang="en" sz="700">
                <a:solidFill>
                  <a:schemeClr val="dk1"/>
                </a:solidFill>
                <a:latin typeface="Montserrat"/>
                <a:ea typeface="Montserrat"/>
                <a:cs typeface="Montserrat"/>
                <a:sym typeface="Montserrat"/>
              </a:rPr>
              <a:t>HESIS IN LOW-FI WIREFRAMES</a:t>
            </a:r>
            <a:endParaRPr b="1" i="0" sz="700" u="none" cap="none" strike="noStrike">
              <a:solidFill>
                <a:srgbClr val="B7B7B7"/>
              </a:solidFill>
              <a:latin typeface="Montserrat"/>
              <a:ea typeface="Montserrat"/>
              <a:cs typeface="Montserrat"/>
              <a:sym typeface="Montserrat"/>
            </a:endParaRPr>
          </a:p>
        </p:txBody>
      </p:sp>
      <p:sp>
        <p:nvSpPr>
          <p:cNvPr id="329" name="Google Shape;329;g132d76c2969_0_52"/>
          <p:cNvSpPr txBox="1"/>
          <p:nvPr/>
        </p:nvSpPr>
        <p:spPr>
          <a:xfrm>
            <a:off x="406475" y="2078874"/>
            <a:ext cx="3240000" cy="281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800">
                <a:solidFill>
                  <a:schemeClr val="dk1"/>
                </a:solidFill>
              </a:rPr>
              <a:t>MMS WEB 3.0 -</a:t>
            </a:r>
            <a:r>
              <a:rPr lang="en" sz="800">
                <a:solidFill>
                  <a:schemeClr val="dk1"/>
                </a:solidFill>
              </a:rPr>
              <a:t> It is the initial concept to combine more ideas, feedback for the next iteration with more accurate solutions.</a:t>
            </a:r>
            <a:endParaRPr sz="800">
              <a:solidFill>
                <a:schemeClr val="dk1"/>
              </a:solidFill>
            </a:endParaRPr>
          </a:p>
          <a:p>
            <a:pPr indent="0" lvl="0" marL="0" marR="0" rtl="0" algn="l">
              <a:lnSpc>
                <a:spcPct val="115000"/>
              </a:lnSpc>
              <a:spcBef>
                <a:spcPts val="0"/>
              </a:spcBef>
              <a:spcAft>
                <a:spcPts val="0"/>
              </a:spcAft>
              <a:buClr>
                <a:schemeClr val="dk1"/>
              </a:buClr>
              <a:buSzPts val="1100"/>
              <a:buFont typeface="Arial"/>
              <a:buNone/>
            </a:pPr>
            <a:r>
              <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800">
                <a:solidFill>
                  <a:schemeClr val="dk1"/>
                </a:solidFill>
              </a:rPr>
              <a:t>Target Audience:</a:t>
            </a:r>
            <a:endParaRPr b="1" sz="8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800">
                <a:solidFill>
                  <a:schemeClr val="dk1"/>
                </a:solidFill>
              </a:rPr>
              <a:t>PR Communication, Researchers.</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800">
                <a:solidFill>
                  <a:schemeClr val="dk1"/>
                </a:solidFill>
              </a:rPr>
              <a:t>Problems to Solve:</a:t>
            </a:r>
            <a:endParaRPr b="1"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Complicated Search</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User can't change settings or password.</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Old design with dated UX patterns.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Not possible avoid authentication even with “remember me” checkmark.</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Hard to check alerts, review &amp; share clip from mobile.</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Clip Viewer: Not possible to scroll video.</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Clip Viewer: Not possible to manage volume.</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User should enter login and password too many times.</a:t>
            </a:r>
            <a:endParaRPr sz="800">
              <a:solidFill>
                <a:schemeClr val="dk1"/>
              </a:solidFill>
            </a:endParaRPr>
          </a:p>
          <a:p>
            <a:pPr indent="0" lvl="0" marL="0" rtl="0" algn="l">
              <a:lnSpc>
                <a:spcPct val="115000"/>
              </a:lnSpc>
              <a:spcBef>
                <a:spcPts val="0"/>
              </a:spcBef>
              <a:spcAft>
                <a:spcPts val="0"/>
              </a:spcAft>
              <a:buNone/>
            </a:pPr>
            <a:r>
              <a:t/>
            </a:r>
            <a:endParaRPr sz="800">
              <a:solidFill>
                <a:schemeClr val="dk1"/>
              </a:solidFill>
            </a:endParaRPr>
          </a:p>
          <a:p>
            <a:pPr indent="0" lvl="0" marL="0" rtl="0" algn="l">
              <a:lnSpc>
                <a:spcPct val="115000"/>
              </a:lnSpc>
              <a:spcBef>
                <a:spcPts val="0"/>
              </a:spcBef>
              <a:spcAft>
                <a:spcPts val="0"/>
              </a:spcAft>
              <a:buNone/>
            </a:pPr>
            <a:r>
              <a:rPr lang="en" sz="800" u="sng">
                <a:solidFill>
                  <a:srgbClr val="1155CC"/>
                </a:solidFill>
                <a:hlinkClick r:id="rId3">
                  <a:extLst>
                    <a:ext uri="{A12FA001-AC4F-418D-AE19-62706E023703}">
                      <ahyp:hlinkClr val="tx"/>
                    </a:ext>
                  </a:extLst>
                </a:hlinkClick>
              </a:rPr>
              <a:t>FIGMA PROTOTYPE</a:t>
            </a:r>
            <a:endParaRPr sz="800">
              <a:solidFill>
                <a:srgbClr val="1155CC"/>
              </a:solidFill>
            </a:endParaRPr>
          </a:p>
          <a:p>
            <a:pPr indent="0" lvl="0" marL="0" marR="0" rtl="0" algn="l">
              <a:lnSpc>
                <a:spcPct val="115000"/>
              </a:lnSpc>
              <a:spcBef>
                <a:spcPts val="1000"/>
              </a:spcBef>
              <a:spcAft>
                <a:spcPts val="0"/>
              </a:spcAft>
              <a:buClr>
                <a:schemeClr val="dk1"/>
              </a:buClr>
              <a:buSzPts val="11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100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p:txBody>
      </p:sp>
      <p:pic>
        <p:nvPicPr>
          <p:cNvPr id="330" name="Google Shape;330;g132d76c2969_0_52" title="tveyes-demo.mov">
            <a:hlinkClick r:id="rId4"/>
          </p:cNvPr>
          <p:cNvPicPr preferRelativeResize="0"/>
          <p:nvPr/>
        </p:nvPicPr>
        <p:blipFill>
          <a:blip r:embed="rId5">
            <a:alphaModFix/>
          </a:blip>
          <a:stretch>
            <a:fillRect/>
          </a:stretch>
        </p:blipFill>
        <p:spPr>
          <a:xfrm>
            <a:off x="4146600" y="1047169"/>
            <a:ext cx="4878648" cy="30491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p25"/>
          <p:cNvGrpSpPr/>
          <p:nvPr/>
        </p:nvGrpSpPr>
        <p:grpSpPr>
          <a:xfrm>
            <a:off x="0" y="-6656"/>
            <a:ext cx="9144000" cy="5150150"/>
            <a:chOff x="0" y="-6656"/>
            <a:chExt cx="9144000" cy="5150150"/>
          </a:xfrm>
        </p:grpSpPr>
        <p:sp>
          <p:nvSpPr>
            <p:cNvPr id="336" name="Google Shape;336;p25"/>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5"/>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25"/>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5"/>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5"/>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5"/>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5"/>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5"/>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5"/>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5"/>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5"/>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5"/>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8" name="Google Shape;348;p25"/>
          <p:cNvSpPr/>
          <p:nvPr/>
        </p:nvSpPr>
        <p:spPr>
          <a:xfrm>
            <a:off x="0" y="0"/>
            <a:ext cx="4000500" cy="5143500"/>
          </a:xfrm>
          <a:prstGeom prst="rect">
            <a:avLst/>
          </a:prstGeom>
          <a:solidFill>
            <a:srgbClr val="F8F8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5"/>
          <p:cNvSpPr txBox="1"/>
          <p:nvPr/>
        </p:nvSpPr>
        <p:spPr>
          <a:xfrm>
            <a:off x="439756" y="337150"/>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 RESULTS</a:t>
            </a:r>
            <a:r>
              <a:rPr b="1" i="0" lang="en" sz="700" u="none" cap="none" strike="noStrike">
                <a:solidFill>
                  <a:srgbClr val="B7B7B7"/>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NEXT STEP</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1" i="0" sz="700" u="none" cap="none" strike="noStrike">
              <a:solidFill>
                <a:srgbClr val="9E9E9E"/>
              </a:solidFill>
              <a:latin typeface="Montserrat"/>
              <a:ea typeface="Montserrat"/>
              <a:cs typeface="Montserrat"/>
              <a:sym typeface="Montserrat"/>
            </a:endParaRPr>
          </a:p>
        </p:txBody>
      </p:sp>
      <p:sp>
        <p:nvSpPr>
          <p:cNvPr id="350" name="Google Shape;350;p25"/>
          <p:cNvSpPr txBox="1"/>
          <p:nvPr>
            <p:ph idx="4294967295" type="ctrTitle"/>
          </p:nvPr>
        </p:nvSpPr>
        <p:spPr>
          <a:xfrm>
            <a:off x="406475" y="890676"/>
            <a:ext cx="3675900" cy="67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chemeClr val="dk1"/>
                </a:solidFill>
                <a:latin typeface="Montserrat"/>
                <a:ea typeface="Montserrat"/>
                <a:cs typeface="Montserrat"/>
                <a:sym typeface="Montserrat"/>
              </a:rPr>
              <a:t>The Next</a:t>
            </a:r>
            <a:endParaRPr b="1" i="0" sz="30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5200"/>
              <a:buFont typeface="Arial"/>
              <a:buNone/>
            </a:pPr>
            <a:r>
              <a:rPr b="1" i="0" lang="en" sz="3000" u="none" cap="none" strike="noStrike">
                <a:solidFill>
                  <a:srgbClr val="EC9301"/>
                </a:solidFill>
                <a:latin typeface="Montserrat"/>
                <a:ea typeface="Montserrat"/>
                <a:cs typeface="Montserrat"/>
                <a:sym typeface="Montserrat"/>
              </a:rPr>
              <a:t>Step is</a:t>
            </a:r>
            <a:endParaRPr b="1" i="0" sz="3000" u="none" cap="none" strike="noStrike">
              <a:solidFill>
                <a:srgbClr val="EC9301"/>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ts val="5200"/>
              <a:buFont typeface="Arial"/>
              <a:buNone/>
            </a:pPr>
            <a:r>
              <a:t/>
            </a:r>
            <a:endParaRPr b="1" i="0" sz="3000" u="none" cap="none" strike="noStrike">
              <a:solidFill>
                <a:schemeClr val="dk1"/>
              </a:solidFill>
              <a:latin typeface="Montserrat"/>
              <a:ea typeface="Montserrat"/>
              <a:cs typeface="Montserrat"/>
              <a:sym typeface="Montserrat"/>
            </a:endParaRPr>
          </a:p>
        </p:txBody>
      </p:sp>
      <p:sp>
        <p:nvSpPr>
          <p:cNvPr id="351" name="Google Shape;351;p25"/>
          <p:cNvSpPr txBox="1"/>
          <p:nvPr>
            <p:ph idx="4294967295" type="ctrTitle"/>
          </p:nvPr>
        </p:nvSpPr>
        <p:spPr>
          <a:xfrm>
            <a:off x="4783525" y="890676"/>
            <a:ext cx="3675900" cy="67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5200"/>
              <a:buFont typeface="Arial"/>
              <a:buNone/>
            </a:pPr>
            <a:r>
              <a:rPr b="1" i="0" lang="en" sz="1400" u="sng" cap="none" strike="noStrike">
                <a:solidFill>
                  <a:srgbClr val="EC9301"/>
                </a:solidFill>
                <a:latin typeface="Montserrat"/>
                <a:ea typeface="Montserrat"/>
                <a:cs typeface="Montserrat"/>
                <a:sym typeface="Montserrat"/>
                <a:hlinkClick r:id="rId3">
                  <a:extLst>
                    <a:ext uri="{A12FA001-AC4F-418D-AE19-62706E023703}">
                      <ahyp:hlinkClr val="tx"/>
                    </a:ext>
                  </a:extLst>
                </a:hlinkClick>
              </a:rPr>
              <a:t>Design Strategy</a:t>
            </a:r>
            <a:endParaRPr b="1" i="0" sz="1400" u="none" cap="none" strike="noStrike">
              <a:solidFill>
                <a:srgbClr val="EC930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p26"/>
          <p:cNvGrpSpPr/>
          <p:nvPr/>
        </p:nvGrpSpPr>
        <p:grpSpPr>
          <a:xfrm>
            <a:off x="0" y="-6656"/>
            <a:ext cx="9144000" cy="5150150"/>
            <a:chOff x="0" y="-6656"/>
            <a:chExt cx="9144000" cy="5150150"/>
          </a:xfrm>
        </p:grpSpPr>
        <p:sp>
          <p:nvSpPr>
            <p:cNvPr id="357" name="Google Shape;357;p26"/>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6"/>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6"/>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6"/>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26"/>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6"/>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6"/>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6"/>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26"/>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6"/>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6"/>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6"/>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9" name="Google Shape;369;p26"/>
          <p:cNvSpPr/>
          <p:nvPr/>
        </p:nvSpPr>
        <p:spPr>
          <a:xfrm>
            <a:off x="0" y="0"/>
            <a:ext cx="4000500" cy="5143500"/>
          </a:xfrm>
          <a:prstGeom prst="rect">
            <a:avLst/>
          </a:prstGeom>
          <a:solidFill>
            <a:srgbClr val="F8F8F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0" name="Google Shape;370;p26"/>
          <p:cNvGrpSpPr/>
          <p:nvPr/>
        </p:nvGrpSpPr>
        <p:grpSpPr>
          <a:xfrm>
            <a:off x="0" y="-6656"/>
            <a:ext cx="9144000" cy="5150150"/>
            <a:chOff x="0" y="-6656"/>
            <a:chExt cx="9144000" cy="5150150"/>
          </a:xfrm>
        </p:grpSpPr>
        <p:sp>
          <p:nvSpPr>
            <p:cNvPr id="371" name="Google Shape;371;p26"/>
            <p:cNvSpPr/>
            <p:nvPr/>
          </p:nvSpPr>
          <p:spPr>
            <a:xfrm>
              <a:off x="86787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26"/>
            <p:cNvSpPr/>
            <p:nvPr/>
          </p:nvSpPr>
          <p:spPr>
            <a:xfrm>
              <a:off x="82134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6"/>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26"/>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6"/>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26"/>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6"/>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26"/>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6"/>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6"/>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6"/>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6"/>
            <p:cNvSpPr/>
            <p:nvPr/>
          </p:nvSpPr>
          <p:spPr>
            <a:xfrm>
              <a:off x="86787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3" name="Google Shape;383;p26"/>
          <p:cNvSpPr txBox="1"/>
          <p:nvPr/>
        </p:nvSpPr>
        <p:spPr>
          <a:xfrm>
            <a:off x="406475" y="2079950"/>
            <a:ext cx="3069600" cy="2485200"/>
          </a:xfrm>
          <a:prstGeom prst="rect">
            <a:avLst/>
          </a:prstGeom>
          <a:noFill/>
          <a:ln>
            <a:noFill/>
          </a:ln>
        </p:spPr>
        <p:txBody>
          <a:bodyPr anchorCtr="0" anchor="t" bIns="91425" lIns="91425" spcFirstLastPara="1" rIns="91425" wrap="square" tIns="91425">
            <a:noAutofit/>
          </a:bodyPr>
          <a:lstStyle/>
          <a:p>
            <a:pPr indent="0" lvl="0" marL="0" marR="0" rtl="0" algn="l">
              <a:lnSpc>
                <a:spcPct val="125000"/>
              </a:lnSpc>
              <a:spcBef>
                <a:spcPts val="0"/>
              </a:spcBef>
              <a:spcAft>
                <a:spcPts val="0"/>
              </a:spcAft>
              <a:buClr>
                <a:schemeClr val="dk1"/>
              </a:buClr>
              <a:buSzPts val="1100"/>
              <a:buFont typeface="Arial"/>
              <a:buNone/>
            </a:pPr>
            <a:r>
              <a:rPr b="0" i="0" lang="en" sz="1000" u="none" cap="none" strike="noStrike">
                <a:solidFill>
                  <a:schemeClr val="dk1"/>
                </a:solidFill>
                <a:latin typeface="Montserrat Medium"/>
                <a:ea typeface="Montserrat Medium"/>
                <a:cs typeface="Montserrat Medium"/>
                <a:sym typeface="Montserrat Medium"/>
              </a:rPr>
              <a:t>We would like to use this slide for sharing links with Miro, Reports, Plans and shared folders (any other received resources).</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rPr b="0" i="0" lang="en" sz="1000" u="none" cap="none" strike="noStrike">
                <a:solidFill>
                  <a:schemeClr val="dk1"/>
                </a:solidFill>
                <a:latin typeface="Montserrat Medium"/>
                <a:ea typeface="Montserrat Medium"/>
                <a:cs typeface="Montserrat Medium"/>
                <a:sym typeface="Montserrat Medium"/>
              </a:rPr>
              <a:t>So, everyone can use this presentation as a reminder for future purpose.</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Medium"/>
              <a:ea typeface="Montserrat Medium"/>
              <a:cs typeface="Montserrat Medium"/>
              <a:sym typeface="Montserrat Medium"/>
            </a:endParaRPr>
          </a:p>
          <a:p>
            <a:pPr indent="0" lvl="0" marL="0" marR="0" rtl="0" algn="l">
              <a:lnSpc>
                <a:spcPct val="125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Medium"/>
              <a:ea typeface="Montserrat Medium"/>
              <a:cs typeface="Montserrat Medium"/>
              <a:sym typeface="Montserrat Medium"/>
            </a:endParaRPr>
          </a:p>
        </p:txBody>
      </p:sp>
      <p:sp>
        <p:nvSpPr>
          <p:cNvPr id="384" name="Google Shape;384;p26"/>
          <p:cNvSpPr txBox="1"/>
          <p:nvPr>
            <p:ph type="title"/>
          </p:nvPr>
        </p:nvSpPr>
        <p:spPr>
          <a:xfrm>
            <a:off x="406475" y="836728"/>
            <a:ext cx="3675900" cy="1124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5200"/>
              <a:buFont typeface="Arial"/>
              <a:buNone/>
            </a:pPr>
            <a:r>
              <a:rPr b="1" lang="en" sz="3000">
                <a:latin typeface="Montserrat"/>
                <a:ea typeface="Montserrat"/>
                <a:cs typeface="Montserrat"/>
                <a:sym typeface="Montserrat"/>
              </a:rPr>
              <a:t>Links</a:t>
            </a:r>
            <a:endParaRPr b="1" sz="3000">
              <a:latin typeface="Montserrat"/>
              <a:ea typeface="Montserrat"/>
              <a:cs typeface="Montserrat"/>
              <a:sym typeface="Montserrat"/>
            </a:endParaRPr>
          </a:p>
          <a:p>
            <a:pPr indent="0" lvl="0" marL="0" rtl="0" algn="l">
              <a:lnSpc>
                <a:spcPct val="100000"/>
              </a:lnSpc>
              <a:spcBef>
                <a:spcPts val="0"/>
              </a:spcBef>
              <a:spcAft>
                <a:spcPts val="0"/>
              </a:spcAft>
              <a:buSzPts val="5200"/>
              <a:buNone/>
            </a:pPr>
            <a:r>
              <a:rPr b="1" lang="en" sz="3000">
                <a:solidFill>
                  <a:srgbClr val="EC9301"/>
                </a:solidFill>
                <a:latin typeface="Montserrat"/>
                <a:ea typeface="Montserrat"/>
                <a:cs typeface="Montserrat"/>
                <a:sym typeface="Montserrat"/>
              </a:rPr>
              <a:t>&amp; Materials</a:t>
            </a:r>
            <a:endParaRPr b="1" sz="3000">
              <a:solidFill>
                <a:srgbClr val="EC9301"/>
              </a:solidFill>
              <a:latin typeface="Montserrat"/>
              <a:ea typeface="Montserrat"/>
              <a:cs typeface="Montserrat"/>
              <a:sym typeface="Montserrat"/>
            </a:endParaRPr>
          </a:p>
        </p:txBody>
      </p:sp>
      <p:graphicFrame>
        <p:nvGraphicFramePr>
          <p:cNvPr id="385" name="Google Shape;385;p26"/>
          <p:cNvGraphicFramePr/>
          <p:nvPr/>
        </p:nvGraphicFramePr>
        <p:xfrm>
          <a:off x="4488019" y="836718"/>
          <a:ext cx="3000000" cy="3000000"/>
        </p:xfrm>
        <a:graphic>
          <a:graphicData uri="http://schemas.openxmlformats.org/drawingml/2006/table">
            <a:tbl>
              <a:tblPr>
                <a:noFill/>
                <a:tableStyleId>{1F52FAF8-44A0-44F3-9007-67FDCE826D40}</a:tableStyleId>
              </a:tblPr>
              <a:tblGrid>
                <a:gridCol w="1431800"/>
                <a:gridCol w="2762975"/>
              </a:tblGrid>
              <a:tr h="425075">
                <a:tc>
                  <a:txBody>
                    <a:bodyPr/>
                    <a:lstStyle/>
                    <a:p>
                      <a:pPr indent="9144" lvl="0" marL="0" marR="0" rtl="0" algn="l">
                        <a:lnSpc>
                          <a:spcPct val="115000"/>
                        </a:lnSpc>
                        <a:spcBef>
                          <a:spcPts val="0"/>
                        </a:spcBef>
                        <a:spcAft>
                          <a:spcPts val="0"/>
                        </a:spcAft>
                        <a:buClr>
                          <a:srgbClr val="000000"/>
                        </a:buClr>
                        <a:buSzPts val="1400"/>
                        <a:buFont typeface="Arial"/>
                        <a:buNone/>
                      </a:pPr>
                      <a:r>
                        <a:rPr b="1" lang="en" sz="1100" u="none" cap="none" strike="noStrike">
                          <a:solidFill>
                            <a:schemeClr val="dk1"/>
                          </a:solidFill>
                          <a:latin typeface="Open Sans"/>
                          <a:ea typeface="Open Sans"/>
                          <a:cs typeface="Open Sans"/>
                          <a:sym typeface="Open Sans"/>
                        </a:rPr>
                        <a:t>Links</a:t>
                      </a:r>
                      <a:endParaRPr b="1" sz="1100" u="none" cap="none" strike="noStrike">
                        <a:solidFill>
                          <a:schemeClr val="dk1"/>
                        </a:solidFill>
                        <a:latin typeface="Open Sans"/>
                        <a:ea typeface="Open Sans"/>
                        <a:cs typeface="Open Sans"/>
                        <a:sym typeface="Open Sans"/>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c>
                  <a:txBody>
                    <a:bodyPr/>
                    <a:lstStyle/>
                    <a:p>
                      <a:pPr indent="9144" lvl="0" marL="0" marR="0" rtl="0" algn="l">
                        <a:lnSpc>
                          <a:spcPct val="115000"/>
                        </a:lnSpc>
                        <a:spcBef>
                          <a:spcPts val="0"/>
                        </a:spcBef>
                        <a:spcAft>
                          <a:spcPts val="0"/>
                        </a:spcAft>
                        <a:buClr>
                          <a:srgbClr val="000000"/>
                        </a:buClr>
                        <a:buSzPts val="1400"/>
                        <a:buFont typeface="Arial"/>
                        <a:buNone/>
                      </a:pPr>
                      <a:r>
                        <a:rPr b="1" lang="en" sz="1100" u="none" cap="none" strike="noStrike">
                          <a:solidFill>
                            <a:schemeClr val="dk1"/>
                          </a:solidFill>
                          <a:latin typeface="Open Sans"/>
                          <a:ea typeface="Open Sans"/>
                          <a:cs typeface="Open Sans"/>
                          <a:sym typeface="Open Sans"/>
                        </a:rPr>
                        <a:t>What is it</a:t>
                      </a:r>
                      <a:endParaRPr sz="1100" u="none" cap="none" strike="noStrike">
                        <a:solidFill>
                          <a:schemeClr val="dk1"/>
                        </a:solidFill>
                        <a:latin typeface="Open Sans"/>
                        <a:ea typeface="Open Sans"/>
                        <a:cs typeface="Open Sans"/>
                        <a:sym typeface="Open Sans"/>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r>
              <a:tr h="521175">
                <a:tc>
                  <a:txBody>
                    <a:bodyPr/>
                    <a:lstStyle/>
                    <a:p>
                      <a:pPr indent="9144" lvl="0" marL="0" marR="0" rtl="0" algn="l">
                        <a:lnSpc>
                          <a:spcPct val="115000"/>
                        </a:lnSpc>
                        <a:spcBef>
                          <a:spcPts val="0"/>
                        </a:spcBef>
                        <a:spcAft>
                          <a:spcPts val="0"/>
                        </a:spcAft>
                        <a:buClr>
                          <a:srgbClr val="000000"/>
                        </a:buClr>
                        <a:buSzPts val="1100"/>
                        <a:buFont typeface="Arial"/>
                        <a:buNone/>
                      </a:pPr>
                      <a:r>
                        <a:rPr lang="en" sz="1100" u="none" cap="none" strike="noStrike">
                          <a:latin typeface="Open Sans"/>
                          <a:ea typeface="Open Sans"/>
                          <a:cs typeface="Open Sans"/>
                          <a:sym typeface="Open Sans"/>
                        </a:rPr>
                        <a:t>Google Drive</a:t>
                      </a:r>
                      <a:endParaRPr sz="1100" u="none" cap="none" strike="noStrike">
                        <a:solidFill>
                          <a:srgbClr val="1D1C1D"/>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c>
                  <a:txBody>
                    <a:bodyPr/>
                    <a:lstStyle/>
                    <a:p>
                      <a:pPr indent="9144" lvl="0" marL="0" marR="0" rtl="0" algn="l">
                        <a:lnSpc>
                          <a:spcPct val="115000"/>
                        </a:lnSpc>
                        <a:spcBef>
                          <a:spcPts val="0"/>
                        </a:spcBef>
                        <a:spcAft>
                          <a:spcPts val="0"/>
                        </a:spcAft>
                        <a:buClr>
                          <a:srgbClr val="000000"/>
                        </a:buClr>
                        <a:buSzPts val="1100"/>
                        <a:buFont typeface="Arial"/>
                        <a:buNone/>
                      </a:pPr>
                      <a:r>
                        <a:rPr lang="en" sz="1100" u="sng" cap="none" strike="noStrike">
                          <a:solidFill>
                            <a:srgbClr val="EC9301"/>
                          </a:solidFill>
                          <a:latin typeface="Open Sans"/>
                          <a:ea typeface="Open Sans"/>
                          <a:cs typeface="Open Sans"/>
                          <a:sym typeface="Open Sans"/>
                          <a:hlinkClick r:id="rId3">
                            <a:extLst>
                              <a:ext uri="{A12FA001-AC4F-418D-AE19-62706E023703}">
                                <ahyp:hlinkClr val="tx"/>
                              </a:ext>
                            </a:extLst>
                          </a:hlinkClick>
                        </a:rPr>
                        <a:t>Shared documents with presentations &amp; everything</a:t>
                      </a:r>
                      <a:endParaRPr sz="1100" u="none" cap="none" strike="noStrike">
                        <a:solidFill>
                          <a:srgbClr val="EC9301"/>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r>
              <a:tr h="667250">
                <a:tc>
                  <a:txBody>
                    <a:bodyPr/>
                    <a:lstStyle/>
                    <a:p>
                      <a:pPr indent="0" lvl="0" marL="0" marR="0" rtl="0" algn="l">
                        <a:lnSpc>
                          <a:spcPct val="115000"/>
                        </a:lnSpc>
                        <a:spcBef>
                          <a:spcPts val="0"/>
                        </a:spcBef>
                        <a:spcAft>
                          <a:spcPts val="0"/>
                        </a:spcAft>
                        <a:buClr>
                          <a:schemeClr val="dk1"/>
                        </a:buClr>
                        <a:buSzPts val="1100"/>
                        <a:buFont typeface="Arial"/>
                        <a:buNone/>
                      </a:pPr>
                      <a:r>
                        <a:rPr lang="en" sz="1100" u="none" cap="none" strike="noStrike">
                          <a:latin typeface="Open Sans"/>
                          <a:ea typeface="Open Sans"/>
                          <a:cs typeface="Open Sans"/>
                          <a:sym typeface="Open Sans"/>
                        </a:rPr>
                        <a:t>Design Board</a:t>
                      </a:r>
                      <a:endParaRPr sz="1100" u="none" cap="none" strike="noStrike">
                        <a:solidFill>
                          <a:srgbClr val="1D1C1D"/>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c>
                  <a:txBody>
                    <a:bodyPr/>
                    <a:lstStyle/>
                    <a:p>
                      <a:pPr indent="9144" lvl="0" marL="0" marR="0" rtl="0" algn="l">
                        <a:lnSpc>
                          <a:spcPct val="115000"/>
                        </a:lnSpc>
                        <a:spcBef>
                          <a:spcPts val="0"/>
                        </a:spcBef>
                        <a:spcAft>
                          <a:spcPts val="0"/>
                        </a:spcAft>
                        <a:buClr>
                          <a:srgbClr val="000000"/>
                        </a:buClr>
                        <a:buSzPts val="1100"/>
                        <a:buFont typeface="Arial"/>
                        <a:buNone/>
                      </a:pPr>
                      <a:r>
                        <a:rPr lang="en" sz="1100" u="sng" cap="none" strike="noStrike">
                          <a:solidFill>
                            <a:srgbClr val="EC9301"/>
                          </a:solidFill>
                          <a:latin typeface="Open Sans"/>
                          <a:ea typeface="Open Sans"/>
                          <a:cs typeface="Open Sans"/>
                          <a:sym typeface="Open Sans"/>
                          <a:hlinkClick r:id="rId4">
                            <a:extLst>
                              <a:ext uri="{A12FA001-AC4F-418D-AE19-62706E023703}">
                                <ahyp:hlinkClr val="tx"/>
                              </a:ext>
                            </a:extLst>
                          </a:hlinkClick>
                        </a:rPr>
                        <a:t>Miro Board for all design activities</a:t>
                      </a:r>
                      <a:r>
                        <a:rPr lang="en" sz="1100" u="none" cap="none" strike="noStrike">
                          <a:solidFill>
                            <a:srgbClr val="1D1C1D"/>
                          </a:solidFill>
                          <a:latin typeface="Open Sans"/>
                          <a:ea typeface="Open Sans"/>
                          <a:cs typeface="Open Sans"/>
                          <a:sym typeface="Open Sans"/>
                        </a:rPr>
                        <a:t> and finding where we collaborate and store all outcomes</a:t>
                      </a:r>
                      <a:endParaRPr sz="1100" u="none" cap="none" strike="noStrike">
                        <a:solidFill>
                          <a:srgbClr val="1D1C1D"/>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r>
              <a:tr h="630775">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Open Sans"/>
                          <a:ea typeface="Open Sans"/>
                          <a:cs typeface="Open Sans"/>
                          <a:sym typeface="Open Sans"/>
                        </a:rPr>
                        <a:t>Design Strategy</a:t>
                      </a:r>
                      <a:endParaRPr sz="1100" u="none" cap="none" strike="noStrike">
                        <a:solidFill>
                          <a:srgbClr val="1D1C1D"/>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t>This is separated presentation with </a:t>
                      </a:r>
                      <a:r>
                        <a:rPr lang="en" sz="1100" u="sng">
                          <a:solidFill>
                            <a:srgbClr val="EC9301"/>
                          </a:solidFill>
                          <a:hlinkClick r:id="rId5">
                            <a:extLst>
                              <a:ext uri="{A12FA001-AC4F-418D-AE19-62706E023703}">
                                <ahyp:hlinkClr val="tx"/>
                              </a:ext>
                            </a:extLst>
                          </a:hlinkClick>
                        </a:rPr>
                        <a:t>Design Strategy for MVP</a:t>
                      </a:r>
                      <a:endParaRPr sz="1100" u="none" cap="none" strike="noStrike">
                        <a:solidFill>
                          <a:srgbClr val="EC9301"/>
                        </a:solidFill>
                        <a:latin typeface="Open Sans"/>
                        <a:ea typeface="Open Sans"/>
                        <a:cs typeface="Open Sans"/>
                        <a:sym typeface="Open Sans"/>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alpha val="20000"/>
                      </a:srgbClr>
                    </a:solidFill>
                  </a:tcPr>
                </a:tc>
              </a:tr>
            </a:tbl>
          </a:graphicData>
        </a:graphic>
      </p:graphicFrame>
      <p:sp>
        <p:nvSpPr>
          <p:cNvPr id="386" name="Google Shape;386;p26"/>
          <p:cNvSpPr txBox="1"/>
          <p:nvPr/>
        </p:nvSpPr>
        <p:spPr>
          <a:xfrm>
            <a:off x="439756" y="337150"/>
            <a:ext cx="22422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1" i="0" lang="en" sz="700" u="none" cap="none" strike="noStrike">
                <a:solidFill>
                  <a:srgbClr val="9E9E9E"/>
                </a:solidFill>
                <a:latin typeface="Montserrat"/>
                <a:ea typeface="Montserrat"/>
                <a:cs typeface="Montserrat"/>
                <a:sym typeface="Montserrat"/>
              </a:rPr>
              <a:t>DISCOVERY</a:t>
            </a:r>
            <a:r>
              <a:rPr b="1" i="0" lang="en" sz="700" u="none" cap="none" strike="noStrike">
                <a:solidFill>
                  <a:schemeClr val="lt2"/>
                </a:solidFill>
                <a:latin typeface="Montserrat"/>
                <a:ea typeface="Montserrat"/>
                <a:cs typeface="Montserrat"/>
                <a:sym typeface="Montserrat"/>
              </a:rPr>
              <a:t>   </a:t>
            </a:r>
            <a:r>
              <a:rPr b="1" i="0" lang="en" sz="700" u="none" cap="none" strike="noStrike">
                <a:solidFill>
                  <a:schemeClr val="dk1"/>
                </a:solidFill>
                <a:latin typeface="Montserrat"/>
                <a:ea typeface="Montserrat"/>
                <a:cs typeface="Montserrat"/>
                <a:sym typeface="Montserrat"/>
              </a:rPr>
              <a:t>LINKS</a:t>
            </a:r>
            <a:endParaRPr b="1" i="0" sz="700" u="none" cap="none" strike="noStrike">
              <a:solidFill>
                <a:srgbClr val="B7B7B7"/>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27"/>
          <p:cNvPicPr preferRelativeResize="0"/>
          <p:nvPr/>
        </p:nvPicPr>
        <p:blipFill rotWithShape="1">
          <a:blip r:embed="rId3">
            <a:alphaModFix/>
          </a:blip>
          <a:srcRect b="0" l="0" r="0" t="0"/>
          <a:stretch/>
        </p:blipFill>
        <p:spPr>
          <a:xfrm>
            <a:off x="0" y="2"/>
            <a:ext cx="9034672" cy="5143500"/>
          </a:xfrm>
          <a:prstGeom prst="rect">
            <a:avLst/>
          </a:prstGeom>
          <a:noFill/>
          <a:ln>
            <a:noFill/>
          </a:ln>
        </p:spPr>
      </p:pic>
      <p:sp>
        <p:nvSpPr>
          <p:cNvPr id="392" name="Google Shape;392;p27"/>
          <p:cNvSpPr txBox="1"/>
          <p:nvPr>
            <p:ph type="ctrTitle"/>
          </p:nvPr>
        </p:nvSpPr>
        <p:spPr>
          <a:xfrm>
            <a:off x="4837650" y="1171475"/>
            <a:ext cx="3505200" cy="11430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3000">
                <a:solidFill>
                  <a:srgbClr val="000000"/>
                </a:solidFill>
                <a:latin typeface="Montserrat ExtraBold"/>
                <a:ea typeface="Montserrat ExtraBold"/>
                <a:cs typeface="Montserrat ExtraBold"/>
                <a:sym typeface="Montserrat ExtraBold"/>
              </a:rPr>
              <a:t>Design proposal</a:t>
            </a:r>
            <a:endParaRPr sz="3000">
              <a:solidFill>
                <a:srgbClr val="000000"/>
              </a:solidFill>
              <a:latin typeface="Montserrat ExtraBold"/>
              <a:ea typeface="Montserrat ExtraBold"/>
              <a:cs typeface="Montserrat ExtraBold"/>
              <a:sym typeface="Montserrat ExtraBold"/>
            </a:endParaRPr>
          </a:p>
          <a:p>
            <a:pPr indent="0" lvl="0" marL="0" rtl="0" algn="l">
              <a:lnSpc>
                <a:spcPct val="100000"/>
              </a:lnSpc>
              <a:spcBef>
                <a:spcPts val="0"/>
              </a:spcBef>
              <a:spcAft>
                <a:spcPts val="0"/>
              </a:spcAft>
              <a:buSzPts val="5200"/>
              <a:buNone/>
            </a:pPr>
            <a:r>
              <a:rPr lang="en" sz="3000">
                <a:solidFill>
                  <a:srgbClr val="000000"/>
                </a:solidFill>
                <a:latin typeface="Montserrat ExtraBold"/>
                <a:ea typeface="Montserrat ExtraBold"/>
                <a:cs typeface="Montserrat ExtraBold"/>
                <a:sym typeface="Montserrat ExtraBold"/>
              </a:rPr>
              <a:t>for ToolsGroup</a:t>
            </a:r>
            <a:endParaRPr sz="3000">
              <a:solidFill>
                <a:srgbClr val="000000"/>
              </a:solidFill>
              <a:latin typeface="Montserrat ExtraBold"/>
              <a:ea typeface="Montserrat ExtraBold"/>
              <a:cs typeface="Montserrat ExtraBold"/>
              <a:sym typeface="Montserrat ExtraBold"/>
            </a:endParaRPr>
          </a:p>
        </p:txBody>
      </p:sp>
      <p:sp>
        <p:nvSpPr>
          <p:cNvPr id="393" name="Google Shape;393;p27"/>
          <p:cNvSpPr txBox="1"/>
          <p:nvPr/>
        </p:nvSpPr>
        <p:spPr>
          <a:xfrm>
            <a:off x="4861336" y="2571757"/>
            <a:ext cx="1289100" cy="221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PREPARED FOR</a:t>
            </a:r>
            <a:endParaRPr b="0" i="0" sz="900" u="none" cap="none" strike="noStrike">
              <a:solidFill>
                <a:srgbClr val="000000"/>
              </a:solidFill>
              <a:latin typeface="Montserrat"/>
              <a:ea typeface="Montserrat"/>
              <a:cs typeface="Montserrat"/>
              <a:sym typeface="Montserrat"/>
            </a:endParaRPr>
          </a:p>
        </p:txBody>
      </p:sp>
      <p:sp>
        <p:nvSpPr>
          <p:cNvPr id="394" name="Google Shape;394;p27"/>
          <p:cNvSpPr txBox="1"/>
          <p:nvPr/>
        </p:nvSpPr>
        <p:spPr>
          <a:xfrm>
            <a:off x="4861336" y="2716652"/>
            <a:ext cx="19749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1" i="0" lang="en" sz="1000" u="none" cap="none" strike="noStrike">
                <a:solidFill>
                  <a:srgbClr val="000000"/>
                </a:solidFill>
                <a:latin typeface="Montserrat"/>
                <a:ea typeface="Montserrat"/>
                <a:cs typeface="Montserrat"/>
                <a:sym typeface="Montserrat"/>
              </a:rPr>
              <a:t>Robert Kaufholz</a:t>
            </a:r>
            <a:endParaRPr b="1" i="0" sz="10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p:txBody>
      </p:sp>
      <p:sp>
        <p:nvSpPr>
          <p:cNvPr id="395" name="Google Shape;395;p27"/>
          <p:cNvSpPr txBox="1"/>
          <p:nvPr/>
        </p:nvSpPr>
        <p:spPr>
          <a:xfrm>
            <a:off x="4866139" y="3090271"/>
            <a:ext cx="15240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MAY 21, 2021 (updated)</a:t>
            </a:r>
            <a:endParaRPr b="0" i="0" sz="900" u="none" cap="none" strike="noStrike">
              <a:solidFill>
                <a:srgbClr val="000000"/>
              </a:solidFill>
              <a:latin typeface="Montserrat"/>
              <a:ea typeface="Montserrat"/>
              <a:cs typeface="Montserrat"/>
              <a:sym typeface="Montserrat"/>
            </a:endParaRPr>
          </a:p>
        </p:txBody>
      </p:sp>
      <p:pic>
        <p:nvPicPr>
          <p:cNvPr id="396" name="Google Shape;396;p27"/>
          <p:cNvPicPr preferRelativeResize="0"/>
          <p:nvPr/>
        </p:nvPicPr>
        <p:blipFill rotWithShape="1">
          <a:blip r:embed="rId4">
            <a:alphaModFix/>
          </a:blip>
          <a:srcRect b="2944" l="0" r="0" t="2945"/>
          <a:stretch/>
        </p:blipFill>
        <p:spPr>
          <a:xfrm>
            <a:off x="8001000" y="228600"/>
            <a:ext cx="914400" cy="381000"/>
          </a:xfrm>
          <a:prstGeom prst="rect">
            <a:avLst/>
          </a:prstGeom>
          <a:noFill/>
          <a:ln>
            <a:noFill/>
          </a:ln>
        </p:spPr>
      </p:pic>
      <p:grpSp>
        <p:nvGrpSpPr>
          <p:cNvPr id="397" name="Google Shape;397;p27"/>
          <p:cNvGrpSpPr/>
          <p:nvPr/>
        </p:nvGrpSpPr>
        <p:grpSpPr>
          <a:xfrm>
            <a:off x="0" y="-6656"/>
            <a:ext cx="4000500" cy="5150150"/>
            <a:chOff x="0" y="-6656"/>
            <a:chExt cx="4000500" cy="5150150"/>
          </a:xfrm>
        </p:grpSpPr>
        <p:sp>
          <p:nvSpPr>
            <p:cNvPr id="398" name="Google Shape;398;p27"/>
            <p:cNvSpPr/>
            <p:nvPr/>
          </p:nvSpPr>
          <p:spPr>
            <a:xfrm>
              <a:off x="353520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7"/>
            <p:cNvSpPr/>
            <p:nvPr/>
          </p:nvSpPr>
          <p:spPr>
            <a:xfrm>
              <a:off x="353520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7"/>
            <p:cNvSpPr/>
            <p:nvPr/>
          </p:nvSpPr>
          <p:spPr>
            <a:xfrm>
              <a:off x="0" y="467819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7"/>
            <p:cNvSpPr/>
            <p:nvPr/>
          </p:nvSpPr>
          <p:spPr>
            <a:xfrm>
              <a:off x="0" y="18545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7"/>
            <p:cNvSpPr/>
            <p:nvPr/>
          </p:nvSpPr>
          <p:spPr>
            <a:xfrm>
              <a:off x="0" y="27655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7"/>
            <p:cNvSpPr/>
            <p:nvPr/>
          </p:nvSpPr>
          <p:spPr>
            <a:xfrm>
              <a:off x="0" y="-6656"/>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7"/>
            <p:cNvSpPr/>
            <p:nvPr/>
          </p:nvSpPr>
          <p:spPr>
            <a:xfrm>
              <a:off x="0" y="923944"/>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7"/>
            <p:cNvSpPr/>
            <p:nvPr/>
          </p:nvSpPr>
          <p:spPr>
            <a:xfrm>
              <a:off x="0" y="3227200"/>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7"/>
            <p:cNvSpPr/>
            <p:nvPr/>
          </p:nvSpPr>
          <p:spPr>
            <a:xfrm>
              <a:off x="0" y="3686603"/>
              <a:ext cx="465300" cy="465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7" name="Google Shape;407;p27"/>
          <p:cNvSpPr/>
          <p:nvPr/>
        </p:nvSpPr>
        <p:spPr>
          <a:xfrm>
            <a:off x="4219188" y="0"/>
            <a:ext cx="4008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7"/>
          <p:cNvSpPr/>
          <p:nvPr/>
        </p:nvSpPr>
        <p:spPr>
          <a:xfrm>
            <a:off x="4000488" y="0"/>
            <a:ext cx="51435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9" name="Google Shape;409;p27"/>
          <p:cNvPicPr preferRelativeResize="0"/>
          <p:nvPr/>
        </p:nvPicPr>
        <p:blipFill rotWithShape="1">
          <a:blip r:embed="rId5">
            <a:alphaModFix/>
          </a:blip>
          <a:srcRect b="0" l="0" r="0" t="0"/>
          <a:stretch/>
        </p:blipFill>
        <p:spPr>
          <a:xfrm>
            <a:off x="4709325" y="458075"/>
            <a:ext cx="3761844" cy="4689775"/>
          </a:xfrm>
          <a:prstGeom prst="rect">
            <a:avLst/>
          </a:prstGeom>
          <a:noFill/>
          <a:ln>
            <a:noFill/>
          </a:ln>
        </p:spPr>
      </p:pic>
      <p:grpSp>
        <p:nvGrpSpPr>
          <p:cNvPr id="410" name="Google Shape;410;p27"/>
          <p:cNvGrpSpPr/>
          <p:nvPr/>
        </p:nvGrpSpPr>
        <p:grpSpPr>
          <a:xfrm>
            <a:off x="0" y="0"/>
            <a:ext cx="4035800" cy="5143500"/>
            <a:chOff x="0" y="0"/>
            <a:chExt cx="4035800" cy="5143500"/>
          </a:xfrm>
        </p:grpSpPr>
        <p:sp>
          <p:nvSpPr>
            <p:cNvPr id="411" name="Google Shape;411;p27"/>
            <p:cNvSpPr/>
            <p:nvPr/>
          </p:nvSpPr>
          <p:spPr>
            <a:xfrm>
              <a:off x="0" y="0"/>
              <a:ext cx="4008000" cy="5143500"/>
            </a:xfrm>
            <a:prstGeom prst="rect">
              <a:avLst/>
            </a:prstGeom>
            <a:solidFill>
              <a:srgbClr val="FFFFFF"/>
            </a:solidFill>
            <a:ln>
              <a:noFill/>
            </a:ln>
            <a:effectLst>
              <a:outerShdw blurRad="200025" rotWithShape="0" algn="bl" dir="5400000" dist="57150">
                <a:srgbClr val="000000">
                  <a:alpha val="1686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7"/>
            <p:cNvSpPr txBox="1"/>
            <p:nvPr/>
          </p:nvSpPr>
          <p:spPr>
            <a:xfrm>
              <a:off x="359900" y="1883878"/>
              <a:ext cx="3675900" cy="1113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 sz="3400" u="none" cap="none" strike="noStrike">
                  <a:solidFill>
                    <a:srgbClr val="000000"/>
                  </a:solidFill>
                  <a:latin typeface="Montserrat"/>
                  <a:ea typeface="Montserrat"/>
                  <a:cs typeface="Montserrat"/>
                  <a:sym typeface="Montserrat"/>
                </a:rPr>
                <a:t>Let’s build something great   </a:t>
              </a:r>
              <a:endParaRPr b="1" i="0" sz="3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100"/>
                <a:buFont typeface="Arial"/>
                <a:buNone/>
              </a:pPr>
              <a:r>
                <a:rPr b="1" i="0" lang="en" sz="3400" u="none" cap="none" strike="noStrike">
                  <a:solidFill>
                    <a:srgbClr val="EC9301"/>
                  </a:solidFill>
                  <a:latin typeface="Montserrat"/>
                  <a:ea typeface="Montserrat"/>
                  <a:cs typeface="Montserrat"/>
                  <a:sym typeface="Montserrat"/>
                </a:rPr>
                <a:t>Together!</a:t>
              </a:r>
              <a:endParaRPr b="1" i="0" sz="3400" u="none" cap="none" strike="noStrike">
                <a:solidFill>
                  <a:srgbClr val="EC9301"/>
                </a:solidFill>
                <a:latin typeface="Montserrat"/>
                <a:ea typeface="Montserrat"/>
                <a:cs typeface="Montserrat"/>
                <a:sym typeface="Montserrat"/>
              </a:endParaRPr>
            </a:p>
          </p:txBody>
        </p:sp>
        <p:sp>
          <p:nvSpPr>
            <p:cNvPr id="413" name="Google Shape;413;p27"/>
            <p:cNvSpPr txBox="1"/>
            <p:nvPr/>
          </p:nvSpPr>
          <p:spPr>
            <a:xfrm>
              <a:off x="402211" y="4044641"/>
              <a:ext cx="1289100" cy="221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PREPARED FOR</a:t>
              </a:r>
              <a:endParaRPr b="0" i="0" sz="900" u="none" cap="none" strike="noStrike">
                <a:solidFill>
                  <a:srgbClr val="000000"/>
                </a:solidFill>
                <a:latin typeface="Montserrat"/>
                <a:ea typeface="Montserrat"/>
                <a:cs typeface="Montserrat"/>
                <a:sym typeface="Montserrat"/>
              </a:endParaRPr>
            </a:p>
          </p:txBody>
        </p:sp>
        <p:sp>
          <p:nvSpPr>
            <p:cNvPr id="414" name="Google Shape;414;p27"/>
            <p:cNvSpPr txBox="1"/>
            <p:nvPr/>
          </p:nvSpPr>
          <p:spPr>
            <a:xfrm>
              <a:off x="395155" y="4202467"/>
              <a:ext cx="19749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000"/>
                <a:buFont typeface="Arial"/>
                <a:buNone/>
              </a:pPr>
              <a:r>
                <a:rPr b="1" lang="en" sz="1000">
                  <a:latin typeface="Montserrat"/>
                  <a:ea typeface="Montserrat"/>
                  <a:cs typeface="Montserrat"/>
                  <a:sym typeface="Montserrat"/>
                </a:rPr>
                <a:t>TvEyes</a:t>
              </a:r>
              <a:endParaRPr b="1" i="0" sz="10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p:txBody>
        </p:sp>
        <p:sp>
          <p:nvSpPr>
            <p:cNvPr id="415" name="Google Shape;415;p27"/>
            <p:cNvSpPr txBox="1"/>
            <p:nvPr/>
          </p:nvSpPr>
          <p:spPr>
            <a:xfrm>
              <a:off x="399959" y="4501384"/>
              <a:ext cx="1524000" cy="304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700"/>
                <a:buFont typeface="Arial"/>
                <a:buNone/>
              </a:pPr>
              <a:r>
                <a:rPr b="1" lang="en" sz="700">
                  <a:solidFill>
                    <a:srgbClr val="9E9E9E"/>
                  </a:solidFill>
                  <a:latin typeface="Montserrat"/>
                  <a:ea typeface="Montserrat"/>
                  <a:cs typeface="Montserrat"/>
                  <a:sym typeface="Montserrat"/>
                </a:rPr>
                <a:t>June</a:t>
              </a:r>
              <a:r>
                <a:rPr b="1" i="0" lang="en" sz="700" u="none" cap="none" strike="noStrike">
                  <a:solidFill>
                    <a:srgbClr val="9E9E9E"/>
                  </a:solidFill>
                  <a:latin typeface="Montserrat"/>
                  <a:ea typeface="Montserrat"/>
                  <a:cs typeface="Montserrat"/>
                  <a:sym typeface="Montserrat"/>
                </a:rPr>
                <a:t>, 2022</a:t>
              </a:r>
              <a:endParaRPr b="0" i="0" sz="900" u="none" cap="none" strike="noStrike">
                <a:solidFill>
                  <a:srgbClr val="9E9E9E"/>
                </a:solidFill>
                <a:latin typeface="Montserrat"/>
                <a:ea typeface="Montserrat"/>
                <a:cs typeface="Montserrat"/>
                <a:sym typeface="Montserrat"/>
              </a:endParaRPr>
            </a:p>
          </p:txBody>
        </p:sp>
        <p:pic>
          <p:nvPicPr>
            <p:cNvPr id="416" name="Google Shape;416;p27"/>
            <p:cNvPicPr preferRelativeResize="0"/>
            <p:nvPr/>
          </p:nvPicPr>
          <p:blipFill rotWithShape="1">
            <a:blip r:embed="rId6">
              <a:alphaModFix/>
            </a:blip>
            <a:srcRect b="0" l="0" r="0" t="0"/>
            <a:stretch/>
          </p:blipFill>
          <p:spPr>
            <a:xfrm>
              <a:off x="448975" y="458083"/>
              <a:ext cx="560118" cy="221100"/>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